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 is a non-custodial checkout for MUSD on Mezo Testnet. It is designed for payments where the parties need more than a transfer: they need agreed terms, delivery deadlines, a review window, and defined settlement outcomes. The escrow contract holds the MUSD. The website prepares one transaction at a time, submits no independent authority over the funds, and reads the contract again after the transaction receipt. A submitted transaction is not automatically treated as success. The current deployment is testnet-only, has not been independently audited, and has no protocol fee. Today, the product is the protected checkout and its contract-enforced rules.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 is not intended to replace a simple MUSD payment. If the buyer and seller have already completed their deal and want to transfer value, an ordinary transfer is appropriate. The gap appears when the payment must wait for delivery, review, or dispute resolution. Consider the illustrative Logo pack agreement for 50.00 MUSD. A direct transfer gives the recipient the funds, but the transfer itself does not enforce a delivery deadline, create a review window, or establish a refund rule. The receipt records a transfer; it does not establish the full commercial terms. RELAY makes those terms part of the agreement that controls settlement.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seller creates the agreement and defines its amount, buyer, funding deadline, delivery deadline, review window, and resolver. The buyer can inspect those terms before connecting a wallet. Once funded, the MUSD is held by the escrow contract rather than the website. The contract defines who may trigger each settlement action and when. The buyer can release after delivery or refund when the delivery deadline has passed and no delivery was submitted. After the review window, anyone can finalize the seller's payment if there is no dispute; that caller receives nothing. If a dispute exists, only the named resolver can settle it. The website cannot independently move the balance.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rules matter because the contract does not treat a deadline as a vague cutoff. At the exact delivery deadline, the seller can still submit delivery. The missed-delivery refund becomes available one second later, and only if nothing was submitted. The review window begins when delivery is submitted, not when the agreement is created. At the exact review deadline, the buyer can still release and either party can still dispute. Finalizing payment to the seller opens one second later if nobody disputed. A dispute freezes release, refund, and finalization until the named resolver settles it. The contract enforces these transitions; it does not judge whether the delivered work is good.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capabilities of the current testnet deployment. An agreement can name a buyer or use an open link, where the first allowed funder becomes the buyer. Milestone plans support two to five stages, each represented by its own agreement. Delivery evidence is recorded with a hash, but that hash is not a judgment about quality. The named resolver can settle a dispute, including a split where neither party receives the full amount. Buyer-controlled agent budgets are also live on the current contract. The interface reads contract state, and activity keeps older agreements associated with their earlier escrow addresses because agreement IDs can overlap between deployments. Older deployments remain readable but do not gain newer functions.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not the interface, defines the payment outcome. RELAY does not provide an administrative withdrawal key. Funding checks the actual MUSD received against the agreed amount, rejecting a token transfer that delivers a different balance. Stored terms, delivery notes, and dispute reasons are checked against their hashes. After a transaction receipt, the application reads the agreement again to determine the resulting state. If the status cannot be confirmed, it must not be presented as a completed payment. The contract also distinguishes settlement from the person who submits a finalizing transaction: when anyone finalizes a seller payment after the review window, that caller is not paid. These are implementation rules, not a claim of independent audit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 uses Mezo's MUSD for the invoice and BTC for network gas. On the current testnet, the escrow accepts MUSD as its only payment asset, and testnet MUSD is borrowed against testnet BTC rather than dispensed by the faucet. This is important to the product's actual funding path. RELAY sits beside an ordinary MUSD transfer rather than replacing it: use a direct transfer when the deal is already settled between the parties, and use RELAY when payment needs to follow agreed conditions. The current x402 endpoint describes the required funding transaction and returns instructions or a receipt; it does not submit the payment itself. This is a testnet product, not a claim of mainnet availability or a formal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seller, buyer, and agent have different permissions. The seller creates the terms, submits delivery, and may cancel before funding. The buyer approves MUSD, funds the agreement, and controls release, refund, or dispute actions within the contract's timing rules. On an open link, the first allowed funder becomes the buyer; an agent cannot fund an open invoice because no buyer is stored yet. An agent budget sets a remaining MUSD cap for another address. Each agent funding action reduces that cap by the invoice amount, but the cap does not approve MUSD by itself. The buyer must still approve escrow spending. The resolver is a separate address that acts only after a dispute.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extends the current deployment; it does not describe shipped functionality. Milestones, split settlement, receipts, and agent budgets are already live on the current testnet contract. The next x402 step is a facilitator that actually submits approval and funding transactions, rather than only returning instructions. A borrow-to-fund flow would connect invoice funding to borrowing MUSD against BTC. A public escrow interface would make the contract functions and their call notes easier for other Mezo applications to use. The reference agent would be deliberately narrow: its only funding call would be fundEscrowAsAgent, constrained by the buyer's remaining budget. Mainnet is gated on an independent audit, and the merchant reserve depends on testing an actual vault withdrawal before presenting that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invitation is simple: start from the RELAY repository and run the testnet path. Connect on Mezo Testnet, create an agreement, inspect its terms and resolver, fund the exact MUSD amount, submit delivery, and exercise a permitted release or refund path. The Logo pack agreement for 50.00 MUSD is an illustrative example, not a live transaction; a real checkout must show the amount read from the contract. The current deployment is not independently audited, and mainnet is disabled. RELAY charges no protocol fee, while the wallet displays the BTC network fee. We ask the judges to evaluate the working contract flow and its permissions, not projected adoption or unverified traction.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229600" y="0"/>
            <a:ext cx="3962095" cy="6858000"/>
          </a:xfrm>
          <a:prstGeom prst="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321040" y="502920"/>
            <a:ext cx="3383280" cy="338328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15400" y="1097280"/>
            <a:ext cx="2194560" cy="2194560"/>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0" y="1252728"/>
            <a:ext cx="1737360" cy="1463040"/>
          </a:xfrm>
          <a:prstGeom prst="rect">
            <a:avLst/>
          </a:prstGeom>
          <a:noFill/>
        </p:spPr>
        <p:txBody>
          <a:bodyPr wrap="square" lIns="0" rIns="0" tIns="0" bIns="0" anchor="ctr">
            <a:spAutoFit/>
          </a:bodyPr>
          <a:lstStyle/>
          <a:p>
            <a:pPr algn="ctr">
              <a:spcAft>
                <a:spcPts val="0"/>
              </a:spcAft>
            </a:pPr>
            <a:r>
              <a:rPr sz="7200" b="1" i="0">
                <a:solidFill>
                  <a:srgbClr val="FFFFFF"/>
                </a:solidFill>
                <a:latin typeface="Aptos"/>
              </a:rPr>
              <a:t>R</a:t>
            </a:r>
          </a:p>
        </p:txBody>
      </p:sp>
      <p:sp>
        <p:nvSpPr>
          <p:cNvPr id="6" name="TextBox 5"/>
          <p:cNvSpPr txBox="1"/>
          <p:nvPr/>
        </p:nvSpPr>
        <p:spPr>
          <a:xfrm>
            <a:off x="594360" y="438912"/>
            <a:ext cx="365760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01  /  INTRODUCTION</a:t>
            </a:r>
          </a:p>
        </p:txBody>
      </p:sp>
      <p:sp>
        <p:nvSpPr>
          <p:cNvPr id="7" name="TextBox 6"/>
          <p:cNvSpPr txBox="1"/>
          <p:nvPr/>
        </p:nvSpPr>
        <p:spPr>
          <a:xfrm>
            <a:off x="566928" y="987552"/>
            <a:ext cx="7132320" cy="1188720"/>
          </a:xfrm>
          <a:prstGeom prst="rect">
            <a:avLst/>
          </a:prstGeom>
          <a:noFill/>
        </p:spPr>
        <p:txBody>
          <a:bodyPr wrap="square" lIns="0" rIns="0" tIns="0" bIns="0" anchor="t">
            <a:spAutoFit/>
          </a:bodyPr>
          <a:lstStyle/>
          <a:p>
            <a:pPr algn="l">
              <a:spcAft>
                <a:spcPts val="0"/>
              </a:spcAft>
            </a:pPr>
            <a:r>
              <a:rPr sz="6600" b="1" i="0">
                <a:solidFill>
                  <a:srgbClr val="111411"/>
                </a:solidFill>
                <a:latin typeface="Aptos"/>
              </a:rPr>
              <a:t>RELAY</a:t>
            </a:r>
          </a:p>
        </p:txBody>
      </p:sp>
      <p:sp>
        <p:nvSpPr>
          <p:cNvPr id="8" name="TextBox 7"/>
          <p:cNvSpPr txBox="1"/>
          <p:nvPr/>
        </p:nvSpPr>
        <p:spPr>
          <a:xfrm>
            <a:off x="621792" y="2331720"/>
            <a:ext cx="6675120" cy="1143000"/>
          </a:xfrm>
          <a:prstGeom prst="rect">
            <a:avLst/>
          </a:prstGeom>
          <a:noFill/>
        </p:spPr>
        <p:txBody>
          <a:bodyPr wrap="square" lIns="0" rIns="0" tIns="0" bIns="0" anchor="t">
            <a:spAutoFit/>
          </a:bodyPr>
          <a:lstStyle/>
          <a:p>
            <a:pPr algn="l">
              <a:spcAft>
                <a:spcPts val="0"/>
              </a:spcAft>
            </a:pPr>
            <a:r>
              <a:rPr sz="3000" b="1" i="0">
                <a:solidFill>
                  <a:srgbClr val="163300"/>
                </a:solidFill>
                <a:latin typeface="Aptos"/>
              </a:rPr>
              <a:t>SECURE THE DEAL.
MOVE THE VALUE.</a:t>
            </a:r>
          </a:p>
        </p:txBody>
      </p:sp>
      <p:sp>
        <p:nvSpPr>
          <p:cNvPr id="9" name="Rectangle 8"/>
          <p:cNvSpPr/>
          <p:nvPr/>
        </p:nvSpPr>
        <p:spPr>
          <a:xfrm>
            <a:off x="621792" y="3749039"/>
            <a:ext cx="1005840" cy="73152"/>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4041648"/>
            <a:ext cx="6583680" cy="411480"/>
          </a:xfrm>
          <a:prstGeom prst="rect">
            <a:avLst/>
          </a:prstGeom>
          <a:noFill/>
        </p:spPr>
        <p:txBody>
          <a:bodyPr wrap="square" lIns="0" rIns="0" tIns="0" bIns="0" anchor="t">
            <a:spAutoFit/>
          </a:bodyPr>
          <a:lstStyle/>
          <a:p>
            <a:pPr algn="l">
              <a:spcAft>
                <a:spcPts val="0"/>
              </a:spcAft>
            </a:pPr>
            <a:r>
              <a:rPr sz="1900" b="1" i="0">
                <a:solidFill>
                  <a:srgbClr val="111411"/>
                </a:solidFill>
                <a:latin typeface="Aptos"/>
              </a:rPr>
              <a:t>Non-custodial MUSD checkout on Mezo</a:t>
            </a:r>
          </a:p>
        </p:txBody>
      </p:sp>
      <p:sp>
        <p:nvSpPr>
          <p:cNvPr id="11" name="Rounded Rectangle 10"/>
          <p:cNvSpPr/>
          <p:nvPr/>
        </p:nvSpPr>
        <p:spPr>
          <a:xfrm>
            <a:off x="621792" y="4709160"/>
            <a:ext cx="1417320"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4732020"/>
            <a:ext cx="1325880" cy="237744"/>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MEZO TESTNET</a:t>
            </a:r>
          </a:p>
        </p:txBody>
      </p:sp>
      <p:sp>
        <p:nvSpPr>
          <p:cNvPr id="13" name="Rounded Rectangle 12"/>
          <p:cNvSpPr/>
          <p:nvPr/>
        </p:nvSpPr>
        <p:spPr>
          <a:xfrm>
            <a:off x="2148840" y="4709160"/>
            <a:ext cx="1234440" cy="292608"/>
          </a:xfrm>
          <a:prstGeom prst="roundRect">
            <a:avLst/>
          </a:prstGeom>
          <a:solidFill>
            <a:srgbClr val="F1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94560" y="4732020"/>
            <a:ext cx="1143000" cy="237744"/>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CHAIN 31611</a:t>
            </a:r>
          </a:p>
        </p:txBody>
      </p:sp>
      <p:sp>
        <p:nvSpPr>
          <p:cNvPr id="15" name="Rounded Rectangle 14"/>
          <p:cNvSpPr/>
          <p:nvPr/>
        </p:nvSpPr>
        <p:spPr>
          <a:xfrm>
            <a:off x="3493008" y="4709160"/>
            <a:ext cx="1600200" cy="292608"/>
          </a:xfrm>
          <a:prstGeom prst="roundRect">
            <a:avLst/>
          </a:prstGeom>
          <a:solidFill>
            <a:srgbClr val="F1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8727" y="4732020"/>
            <a:ext cx="1508760" cy="237744"/>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NO PROTOCOL FEE</a:t>
            </a:r>
          </a:p>
        </p:txBody>
      </p:sp>
      <p:sp>
        <p:nvSpPr>
          <p:cNvPr id="17" name="TextBox 16"/>
          <p:cNvSpPr txBox="1"/>
          <p:nvPr/>
        </p:nvSpPr>
        <p:spPr>
          <a:xfrm>
            <a:off x="621792" y="5687568"/>
            <a:ext cx="7315200" cy="256032"/>
          </a:xfrm>
          <a:prstGeom prst="rect">
            <a:avLst/>
          </a:prstGeom>
          <a:noFill/>
        </p:spPr>
        <p:txBody>
          <a:bodyPr wrap="square" lIns="0" rIns="0" tIns="0" bIns="0" anchor="t">
            <a:spAutoFit/>
          </a:bodyPr>
          <a:lstStyle/>
          <a:p>
            <a:pPr algn="l">
              <a:spcAft>
                <a:spcPts val="0"/>
              </a:spcAft>
            </a:pPr>
            <a:r>
              <a:rPr sz="900" b="0" i="0">
                <a:solidFill>
                  <a:srgbClr val="5F6B60"/>
                </a:solidFill>
                <a:latin typeface="Aptos"/>
              </a:rPr>
              <a:t>Escrow: 0x22535C947Fd951bbC6C03f8D8A1159ad3a159c46</a:t>
            </a:r>
          </a:p>
        </p:txBody>
      </p:sp>
      <p:sp>
        <p:nvSpPr>
          <p:cNvPr id="18" name="TextBox 17"/>
          <p:cNvSpPr txBox="1"/>
          <p:nvPr/>
        </p:nvSpPr>
        <p:spPr>
          <a:xfrm>
            <a:off x="8686800" y="4709160"/>
            <a:ext cx="2468880" cy="228600"/>
          </a:xfrm>
          <a:prstGeom prst="rect">
            <a:avLst/>
          </a:prstGeom>
          <a:noFill/>
        </p:spPr>
        <p:txBody>
          <a:bodyPr wrap="square" lIns="0" rIns="0" tIns="0" bIns="0" anchor="t">
            <a:spAutoFit/>
          </a:bodyPr>
          <a:lstStyle/>
          <a:p>
            <a:pPr algn="ctr">
              <a:spcAft>
                <a:spcPts val="0"/>
              </a:spcAft>
            </a:pPr>
            <a:r>
              <a:rPr sz="1100" b="1" i="0">
                <a:solidFill>
                  <a:srgbClr val="FFFFFF"/>
                </a:solidFill>
                <a:latin typeface="Aptos"/>
              </a:rPr>
              <a:t>MUSD PAYMENT</a:t>
            </a:r>
          </a:p>
        </p:txBody>
      </p:sp>
      <p:sp>
        <p:nvSpPr>
          <p:cNvPr id="19" name="TextBox 18"/>
          <p:cNvSpPr txBox="1"/>
          <p:nvPr/>
        </p:nvSpPr>
        <p:spPr>
          <a:xfrm>
            <a:off x="8686800" y="5074920"/>
            <a:ext cx="2468880" cy="228600"/>
          </a:xfrm>
          <a:prstGeom prst="rect">
            <a:avLst/>
          </a:prstGeom>
          <a:noFill/>
        </p:spPr>
        <p:txBody>
          <a:bodyPr wrap="square" lIns="0" rIns="0" tIns="0" bIns="0" anchor="t">
            <a:spAutoFit/>
          </a:bodyPr>
          <a:lstStyle/>
          <a:p>
            <a:pPr algn="ctr">
              <a:spcAft>
                <a:spcPts val="0"/>
              </a:spcAft>
            </a:pPr>
            <a:r>
              <a:rPr sz="1100" b="1" i="0">
                <a:solidFill>
                  <a:srgbClr val="9FE870"/>
                </a:solidFill>
                <a:latin typeface="Aptos"/>
              </a:rPr>
              <a:t>BTC GAS</a:t>
            </a:r>
          </a:p>
        </p:txBody>
      </p:sp>
      <p:sp>
        <p:nvSpPr>
          <p:cNvPr id="20" name="TextBox 19"/>
          <p:cNvSpPr txBox="1"/>
          <p:nvPr/>
        </p:nvSpPr>
        <p:spPr>
          <a:xfrm>
            <a:off x="621792" y="6172200"/>
            <a:ext cx="7315200" cy="228600"/>
          </a:xfrm>
          <a:prstGeom prst="rect">
            <a:avLst/>
          </a:prstGeom>
          <a:noFill/>
        </p:spPr>
        <p:txBody>
          <a:bodyPr wrap="square" lIns="0" rIns="0" tIns="0" bIns="0" anchor="t">
            <a:spAutoFit/>
          </a:bodyPr>
          <a:lstStyle/>
          <a:p>
            <a:pPr algn="l">
              <a:spcAft>
                <a:spcPts val="0"/>
              </a:spcAft>
            </a:pPr>
            <a:r>
              <a:rPr sz="900" b="0" i="0">
                <a:solidFill>
                  <a:srgbClr val="5F6B60"/>
                </a:solidFill>
                <a:latin typeface="Aptos"/>
              </a:rPr>
              <a:t>Illustrative example: “Logo pack” · 50.00 MUSD · not a live transaction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02  /  PROBLEM</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A MUSD transfer ends the deal at the moment it is sent.</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The transfer moves value. It does not enforce the commercial terms.</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548640" y="1874519"/>
            <a:ext cx="5394960" cy="352044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0" y="1874519"/>
            <a:ext cx="5394960" cy="3520440"/>
          </a:xfrm>
          <a:prstGeom prst="roundRect">
            <a:avLst/>
          </a:prstGeom>
          <a:solidFill>
            <a:srgbClr val="FFFFFF"/>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21408"/>
            <a:ext cx="4480560" cy="320040"/>
          </a:xfrm>
          <a:prstGeom prst="rect">
            <a:avLst/>
          </a:prstGeom>
          <a:noFill/>
        </p:spPr>
        <p:txBody>
          <a:bodyPr wrap="square" lIns="0" rIns="0" tIns="0" bIns="0" anchor="t">
            <a:spAutoFit/>
          </a:bodyPr>
          <a:lstStyle/>
          <a:p>
            <a:pPr algn="l">
              <a:spcAft>
                <a:spcPts val="0"/>
              </a:spcAft>
            </a:pPr>
            <a:r>
              <a:rPr sz="1500" b="1" i="0">
                <a:solidFill>
                  <a:srgbClr val="163300"/>
                </a:solidFill>
                <a:latin typeface="Aptos"/>
              </a:rPr>
              <a:t>PLAIN TRANSFER LACKS</a:t>
            </a:r>
          </a:p>
        </p:txBody>
      </p:sp>
      <p:sp>
        <p:nvSpPr>
          <p:cNvPr id="9" name="Oval 8"/>
          <p:cNvSpPr/>
          <p:nvPr/>
        </p:nvSpPr>
        <p:spPr>
          <a:xfrm>
            <a:off x="868680" y="2660903"/>
            <a:ext cx="228600" cy="2286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8"/>
            <a:ext cx="228600" cy="246888"/>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a:t>
            </a:r>
          </a:p>
        </p:txBody>
      </p:sp>
      <p:sp>
        <p:nvSpPr>
          <p:cNvPr id="11" name="TextBox 10"/>
          <p:cNvSpPr txBox="1"/>
          <p:nvPr/>
        </p:nvSpPr>
        <p:spPr>
          <a:xfrm>
            <a:off x="1225296" y="2633472"/>
            <a:ext cx="4297680" cy="292608"/>
          </a:xfrm>
          <a:prstGeom prst="rect">
            <a:avLst/>
          </a:prstGeom>
          <a:noFill/>
        </p:spPr>
        <p:txBody>
          <a:bodyPr wrap="square" lIns="0" rIns="0" tIns="0" bIns="0" anchor="t">
            <a:spAutoFit/>
          </a:bodyPr>
          <a:lstStyle/>
          <a:p>
            <a:pPr algn="l">
              <a:spcAft>
                <a:spcPts val="0"/>
              </a:spcAft>
            </a:pPr>
            <a:r>
              <a:rPr sz="1300" b="0" i="0">
                <a:solidFill>
                  <a:srgbClr val="263126"/>
                </a:solidFill>
                <a:latin typeface="Aptos"/>
              </a:rPr>
              <a:t>Funding deadline</a:t>
            </a:r>
          </a:p>
        </p:txBody>
      </p:sp>
      <p:sp>
        <p:nvSpPr>
          <p:cNvPr id="12" name="Oval 11"/>
          <p:cNvSpPr/>
          <p:nvPr/>
        </p:nvSpPr>
        <p:spPr>
          <a:xfrm>
            <a:off x="868680" y="3145536"/>
            <a:ext cx="228600" cy="2286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108960"/>
            <a:ext cx="228600" cy="246888"/>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a:t>
            </a:r>
          </a:p>
        </p:txBody>
      </p:sp>
      <p:sp>
        <p:nvSpPr>
          <p:cNvPr id="14" name="TextBox 13"/>
          <p:cNvSpPr txBox="1"/>
          <p:nvPr/>
        </p:nvSpPr>
        <p:spPr>
          <a:xfrm>
            <a:off x="1225296" y="3118104"/>
            <a:ext cx="4297680" cy="292608"/>
          </a:xfrm>
          <a:prstGeom prst="rect">
            <a:avLst/>
          </a:prstGeom>
          <a:noFill/>
        </p:spPr>
        <p:txBody>
          <a:bodyPr wrap="square" lIns="0" rIns="0" tIns="0" bIns="0" anchor="t">
            <a:spAutoFit/>
          </a:bodyPr>
          <a:lstStyle/>
          <a:p>
            <a:pPr algn="l">
              <a:spcAft>
                <a:spcPts val="0"/>
              </a:spcAft>
            </a:pPr>
            <a:r>
              <a:rPr sz="1300" b="0" i="0">
                <a:solidFill>
                  <a:srgbClr val="263126"/>
                </a:solidFill>
                <a:latin typeface="Aptos"/>
              </a:rPr>
              <a:t>Delivery deadline</a:t>
            </a:r>
          </a:p>
        </p:txBody>
      </p:sp>
      <p:sp>
        <p:nvSpPr>
          <p:cNvPr id="15" name="Oval 14"/>
          <p:cNvSpPr/>
          <p:nvPr/>
        </p:nvSpPr>
        <p:spPr>
          <a:xfrm>
            <a:off x="868680" y="3630168"/>
            <a:ext cx="228600" cy="2286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93592"/>
            <a:ext cx="228600" cy="246888"/>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a:t>
            </a:r>
          </a:p>
        </p:txBody>
      </p:sp>
      <p:sp>
        <p:nvSpPr>
          <p:cNvPr id="17" name="TextBox 16"/>
          <p:cNvSpPr txBox="1"/>
          <p:nvPr/>
        </p:nvSpPr>
        <p:spPr>
          <a:xfrm>
            <a:off x="1225296" y="3602736"/>
            <a:ext cx="4297680" cy="292608"/>
          </a:xfrm>
          <a:prstGeom prst="rect">
            <a:avLst/>
          </a:prstGeom>
          <a:noFill/>
        </p:spPr>
        <p:txBody>
          <a:bodyPr wrap="square" lIns="0" rIns="0" tIns="0" bIns="0" anchor="t">
            <a:spAutoFit/>
          </a:bodyPr>
          <a:lstStyle/>
          <a:p>
            <a:pPr algn="l">
              <a:spcAft>
                <a:spcPts val="0"/>
              </a:spcAft>
            </a:pPr>
            <a:r>
              <a:rPr sz="1300" b="0" i="0">
                <a:solidFill>
                  <a:srgbClr val="263126"/>
                </a:solidFill>
                <a:latin typeface="Aptos"/>
              </a:rPr>
              <a:t>Review window</a:t>
            </a:r>
          </a:p>
        </p:txBody>
      </p:sp>
      <p:sp>
        <p:nvSpPr>
          <p:cNvPr id="18" name="Oval 17"/>
          <p:cNvSpPr/>
          <p:nvPr/>
        </p:nvSpPr>
        <p:spPr>
          <a:xfrm>
            <a:off x="868680" y="4114800"/>
            <a:ext cx="228600" cy="2286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078224"/>
            <a:ext cx="228600" cy="246888"/>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a:t>
            </a:r>
          </a:p>
        </p:txBody>
      </p:sp>
      <p:sp>
        <p:nvSpPr>
          <p:cNvPr id="20" name="TextBox 19"/>
          <p:cNvSpPr txBox="1"/>
          <p:nvPr/>
        </p:nvSpPr>
        <p:spPr>
          <a:xfrm>
            <a:off x="1225296" y="4087368"/>
            <a:ext cx="4297680" cy="292608"/>
          </a:xfrm>
          <a:prstGeom prst="rect">
            <a:avLst/>
          </a:prstGeom>
          <a:noFill/>
        </p:spPr>
        <p:txBody>
          <a:bodyPr wrap="square" lIns="0" rIns="0" tIns="0" bIns="0" anchor="t">
            <a:spAutoFit/>
          </a:bodyPr>
          <a:lstStyle/>
          <a:p>
            <a:pPr algn="l">
              <a:spcAft>
                <a:spcPts val="0"/>
              </a:spcAft>
            </a:pPr>
            <a:r>
              <a:rPr sz="1300" b="0" i="0">
                <a:solidFill>
                  <a:srgbClr val="263126"/>
                </a:solidFill>
                <a:latin typeface="Aptos"/>
              </a:rPr>
              <a:t>Agreement terms attached to payment</a:t>
            </a:r>
          </a:p>
        </p:txBody>
      </p:sp>
      <p:sp>
        <p:nvSpPr>
          <p:cNvPr id="21" name="Oval 20"/>
          <p:cNvSpPr/>
          <p:nvPr/>
        </p:nvSpPr>
        <p:spPr>
          <a:xfrm>
            <a:off x="868680" y="4599432"/>
            <a:ext cx="228600" cy="2286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562856"/>
            <a:ext cx="228600" cy="246888"/>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a:t>
            </a:r>
          </a:p>
        </p:txBody>
      </p:sp>
      <p:sp>
        <p:nvSpPr>
          <p:cNvPr id="23" name="TextBox 22"/>
          <p:cNvSpPr txBox="1"/>
          <p:nvPr/>
        </p:nvSpPr>
        <p:spPr>
          <a:xfrm>
            <a:off x="1225296" y="4572000"/>
            <a:ext cx="4297680" cy="292608"/>
          </a:xfrm>
          <a:prstGeom prst="rect">
            <a:avLst/>
          </a:prstGeom>
          <a:noFill/>
        </p:spPr>
        <p:txBody>
          <a:bodyPr wrap="square" lIns="0" rIns="0" tIns="0" bIns="0" anchor="t">
            <a:spAutoFit/>
          </a:bodyPr>
          <a:lstStyle/>
          <a:p>
            <a:pPr algn="l">
              <a:spcAft>
                <a:spcPts val="0"/>
              </a:spcAft>
            </a:pPr>
            <a:r>
              <a:rPr sz="1300" b="0" i="0">
                <a:solidFill>
                  <a:srgbClr val="263126"/>
                </a:solidFill>
                <a:latin typeface="Aptos"/>
              </a:rPr>
              <a:t>Rule-based refund if nothing is delivered</a:t>
            </a:r>
          </a:p>
        </p:txBody>
      </p:sp>
      <p:sp>
        <p:nvSpPr>
          <p:cNvPr id="24" name="TextBox 23"/>
          <p:cNvSpPr txBox="1"/>
          <p:nvPr/>
        </p:nvSpPr>
        <p:spPr>
          <a:xfrm>
            <a:off x="6492240" y="2121408"/>
            <a:ext cx="4480560" cy="320040"/>
          </a:xfrm>
          <a:prstGeom prst="rect">
            <a:avLst/>
          </a:prstGeom>
          <a:noFill/>
        </p:spPr>
        <p:txBody>
          <a:bodyPr wrap="square" lIns="0" rIns="0" tIns="0" bIns="0" anchor="t">
            <a:spAutoFit/>
          </a:bodyPr>
          <a:lstStyle/>
          <a:p>
            <a:pPr algn="l">
              <a:spcAft>
                <a:spcPts val="0"/>
              </a:spcAft>
            </a:pPr>
            <a:r>
              <a:rPr sz="1500" b="1" i="0">
                <a:solidFill>
                  <a:srgbClr val="163300"/>
                </a:solidFill>
                <a:latin typeface="Aptos"/>
              </a:rPr>
              <a:t>WHAT CAN GO WRONG</a:t>
            </a:r>
          </a:p>
        </p:txBody>
      </p:sp>
      <p:sp>
        <p:nvSpPr>
          <p:cNvPr id="25" name="Oval 24"/>
          <p:cNvSpPr/>
          <p:nvPr/>
        </p:nvSpPr>
        <p:spPr>
          <a:xfrm>
            <a:off x="6537960" y="2724912"/>
            <a:ext cx="310896" cy="310896"/>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2724912"/>
            <a:ext cx="310896" cy="283464"/>
          </a:xfrm>
          <a:prstGeom prst="rect">
            <a:avLst/>
          </a:prstGeom>
          <a:noFill/>
        </p:spPr>
        <p:txBody>
          <a:bodyPr wrap="square" lIns="0" rIns="0" tIns="0" bIns="0" anchor="ctr">
            <a:spAutoFit/>
          </a:bodyPr>
          <a:lstStyle/>
          <a:p>
            <a:pPr algn="ctr">
              <a:spcAft>
                <a:spcPts val="0"/>
              </a:spcAft>
            </a:pPr>
            <a:r>
              <a:rPr sz="1300" b="1" i="0">
                <a:solidFill>
                  <a:srgbClr val="FFFFFF"/>
                </a:solidFill>
                <a:latin typeface="Aptos"/>
              </a:rPr>
              <a:t>!</a:t>
            </a:r>
          </a:p>
        </p:txBody>
      </p:sp>
      <p:sp>
        <p:nvSpPr>
          <p:cNvPr id="27" name="TextBox 26"/>
          <p:cNvSpPr txBox="1"/>
          <p:nvPr/>
        </p:nvSpPr>
        <p:spPr>
          <a:xfrm>
            <a:off x="7022592" y="2706624"/>
            <a:ext cx="4023360" cy="457200"/>
          </a:xfrm>
          <a:prstGeom prst="rect">
            <a:avLst/>
          </a:prstGeom>
          <a:noFill/>
        </p:spPr>
        <p:txBody>
          <a:bodyPr wrap="square" lIns="0" rIns="0" tIns="0" bIns="0" anchor="t">
            <a:spAutoFit/>
          </a:bodyPr>
          <a:lstStyle/>
          <a:p>
            <a:pPr algn="l">
              <a:spcAft>
                <a:spcPts val="0"/>
              </a:spcAft>
            </a:pPr>
            <a:r>
              <a:rPr sz="1400" b="1" i="0">
                <a:solidFill>
                  <a:srgbClr val="263126"/>
                </a:solidFill>
                <a:latin typeface="Aptos"/>
              </a:rPr>
              <a:t>Seller delivers but is not paid</a:t>
            </a:r>
          </a:p>
        </p:txBody>
      </p:sp>
      <p:sp>
        <p:nvSpPr>
          <p:cNvPr id="28" name="Oval 27"/>
          <p:cNvSpPr/>
          <p:nvPr/>
        </p:nvSpPr>
        <p:spPr>
          <a:xfrm>
            <a:off x="6537960" y="3438144"/>
            <a:ext cx="310896" cy="310896"/>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438144"/>
            <a:ext cx="310896" cy="283464"/>
          </a:xfrm>
          <a:prstGeom prst="rect">
            <a:avLst/>
          </a:prstGeom>
          <a:noFill/>
        </p:spPr>
        <p:txBody>
          <a:bodyPr wrap="square" lIns="0" rIns="0" tIns="0" bIns="0" anchor="ctr">
            <a:spAutoFit/>
          </a:bodyPr>
          <a:lstStyle/>
          <a:p>
            <a:pPr algn="ctr">
              <a:spcAft>
                <a:spcPts val="0"/>
              </a:spcAft>
            </a:pPr>
            <a:r>
              <a:rPr sz="1300" b="1" i="0">
                <a:solidFill>
                  <a:srgbClr val="FFFFFF"/>
                </a:solidFill>
                <a:latin typeface="Aptos"/>
              </a:rPr>
              <a:t>!</a:t>
            </a:r>
          </a:p>
        </p:txBody>
      </p:sp>
      <p:sp>
        <p:nvSpPr>
          <p:cNvPr id="30" name="TextBox 29"/>
          <p:cNvSpPr txBox="1"/>
          <p:nvPr/>
        </p:nvSpPr>
        <p:spPr>
          <a:xfrm>
            <a:off x="7022592" y="3419856"/>
            <a:ext cx="4023360" cy="457200"/>
          </a:xfrm>
          <a:prstGeom prst="rect">
            <a:avLst/>
          </a:prstGeom>
          <a:noFill/>
        </p:spPr>
        <p:txBody>
          <a:bodyPr wrap="square" lIns="0" rIns="0" tIns="0" bIns="0" anchor="t">
            <a:spAutoFit/>
          </a:bodyPr>
          <a:lstStyle/>
          <a:p>
            <a:pPr algn="l">
              <a:spcAft>
                <a:spcPts val="0"/>
              </a:spcAft>
            </a:pPr>
            <a:r>
              <a:rPr sz="1400" b="1" i="0">
                <a:solidFill>
                  <a:srgbClr val="263126"/>
                </a:solidFill>
                <a:latin typeface="Aptos"/>
              </a:rPr>
              <a:t>Buyer pays before seeing a resolver</a:t>
            </a:r>
          </a:p>
        </p:txBody>
      </p:sp>
      <p:sp>
        <p:nvSpPr>
          <p:cNvPr id="31" name="Oval 30"/>
          <p:cNvSpPr/>
          <p:nvPr/>
        </p:nvSpPr>
        <p:spPr>
          <a:xfrm>
            <a:off x="6537960" y="4151376"/>
            <a:ext cx="310896" cy="310896"/>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151376"/>
            <a:ext cx="310896" cy="283464"/>
          </a:xfrm>
          <a:prstGeom prst="rect">
            <a:avLst/>
          </a:prstGeom>
          <a:noFill/>
        </p:spPr>
        <p:txBody>
          <a:bodyPr wrap="square" lIns="0" rIns="0" tIns="0" bIns="0" anchor="ctr">
            <a:spAutoFit/>
          </a:bodyPr>
          <a:lstStyle/>
          <a:p>
            <a:pPr algn="ctr">
              <a:spcAft>
                <a:spcPts val="0"/>
              </a:spcAft>
            </a:pPr>
            <a:r>
              <a:rPr sz="1300" b="1" i="0">
                <a:solidFill>
                  <a:srgbClr val="FFFFFF"/>
                </a:solidFill>
                <a:latin typeface="Aptos"/>
              </a:rPr>
              <a:t>!</a:t>
            </a:r>
          </a:p>
        </p:txBody>
      </p:sp>
      <p:sp>
        <p:nvSpPr>
          <p:cNvPr id="33" name="TextBox 32"/>
          <p:cNvSpPr txBox="1"/>
          <p:nvPr/>
        </p:nvSpPr>
        <p:spPr>
          <a:xfrm>
            <a:off x="7022592" y="4133088"/>
            <a:ext cx="4023360" cy="457200"/>
          </a:xfrm>
          <a:prstGeom prst="rect">
            <a:avLst/>
          </a:prstGeom>
          <a:noFill/>
        </p:spPr>
        <p:txBody>
          <a:bodyPr wrap="square" lIns="0" rIns="0" tIns="0" bIns="0" anchor="t">
            <a:spAutoFit/>
          </a:bodyPr>
          <a:lstStyle/>
          <a:p>
            <a:pPr algn="l">
              <a:spcAft>
                <a:spcPts val="0"/>
              </a:spcAft>
            </a:pPr>
            <a:r>
              <a:rPr sz="1400" b="1" i="0">
                <a:solidFill>
                  <a:srgbClr val="263126"/>
                </a:solidFill>
                <a:latin typeface="Aptos"/>
              </a:rPr>
              <a:t>Receipt does not prove what was agreed</a:t>
            </a:r>
          </a:p>
        </p:txBody>
      </p:sp>
      <p:sp>
        <p:nvSpPr>
          <p:cNvPr id="34" name="Rounded Rectangle 33"/>
          <p:cNvSpPr/>
          <p:nvPr/>
        </p:nvSpPr>
        <p:spPr>
          <a:xfrm>
            <a:off x="777240" y="5650992"/>
            <a:ext cx="10607040" cy="530352"/>
          </a:xfrm>
          <a:prstGeom prst="round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769864"/>
            <a:ext cx="10241280" cy="246888"/>
          </a:xfrm>
          <a:prstGeom prst="rect">
            <a:avLst/>
          </a:prstGeom>
          <a:noFill/>
        </p:spPr>
        <p:txBody>
          <a:bodyPr wrap="square" lIns="0" rIns="0" tIns="0" bIns="0" anchor="t">
            <a:spAutoFit/>
          </a:bodyPr>
          <a:lstStyle/>
          <a:p>
            <a:pPr algn="l">
              <a:spcAft>
                <a:spcPts val="0"/>
              </a:spcAft>
            </a:pPr>
            <a:r>
              <a:rPr sz="1200" b="1" i="0">
                <a:solidFill>
                  <a:srgbClr val="FFFFFF"/>
                </a:solidFill>
                <a:latin typeface="Aptos"/>
              </a:rPr>
              <a:t>EXAMPLE  •  50.00 MUSD for a logo pack: once sent, it cannot be pulled back by a settlement rule.</a:t>
            </a:r>
          </a:p>
        </p:txBody>
      </p:sp>
      <p:sp>
        <p:nvSpPr>
          <p:cNvPr id="36" name="Rectangle 35"/>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03  /  SOLUTION</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The escrow holds 50.00 MUSD until an agreement rule pays it out.</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Buyer reads the terms first. The contract governs the outcome.</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4297680" y="2377440"/>
            <a:ext cx="3611880" cy="1234440"/>
          </a:xfrm>
          <a:prstGeom prst="round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2624328"/>
            <a:ext cx="3154680" cy="274320"/>
          </a:xfrm>
          <a:prstGeom prst="rect">
            <a:avLst/>
          </a:prstGeom>
          <a:noFill/>
        </p:spPr>
        <p:txBody>
          <a:bodyPr wrap="square" lIns="0" rIns="0" tIns="0" bIns="0" anchor="t">
            <a:spAutoFit/>
          </a:bodyPr>
          <a:lstStyle/>
          <a:p>
            <a:pPr algn="ctr">
              <a:spcAft>
                <a:spcPts val="0"/>
              </a:spcAft>
            </a:pPr>
            <a:r>
              <a:rPr sz="1700" b="1" i="0">
                <a:solidFill>
                  <a:srgbClr val="FFFFFF"/>
                </a:solidFill>
                <a:latin typeface="Aptos"/>
              </a:rPr>
              <a:t>RELAY ESCROW CONTRACT</a:t>
            </a:r>
          </a:p>
        </p:txBody>
      </p:sp>
      <p:sp>
        <p:nvSpPr>
          <p:cNvPr id="8" name="TextBox 7"/>
          <p:cNvSpPr txBox="1"/>
          <p:nvPr/>
        </p:nvSpPr>
        <p:spPr>
          <a:xfrm>
            <a:off x="4526280" y="2999232"/>
            <a:ext cx="3154680" cy="256032"/>
          </a:xfrm>
          <a:prstGeom prst="rect">
            <a:avLst/>
          </a:prstGeom>
          <a:noFill/>
        </p:spPr>
        <p:txBody>
          <a:bodyPr wrap="square" lIns="0" rIns="0" tIns="0" bIns="0" anchor="t">
            <a:spAutoFit/>
          </a:bodyPr>
          <a:lstStyle/>
          <a:p>
            <a:pPr algn="ctr">
              <a:spcAft>
                <a:spcPts val="0"/>
              </a:spcAft>
            </a:pPr>
            <a:r>
              <a:rPr sz="1300" b="1" i="0">
                <a:solidFill>
                  <a:srgbClr val="9FE870"/>
                </a:solidFill>
                <a:latin typeface="Aptos"/>
              </a:rPr>
              <a:t>50.00 MUSD · LOCKED</a:t>
            </a:r>
          </a:p>
        </p:txBody>
      </p:sp>
      <p:sp>
        <p:nvSpPr>
          <p:cNvPr id="9" name="Rounded Rectangle 8"/>
          <p:cNvSpPr/>
          <p:nvPr/>
        </p:nvSpPr>
        <p:spPr>
          <a:xfrm>
            <a:off x="594360" y="1920240"/>
            <a:ext cx="2880360" cy="11430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066544"/>
            <a:ext cx="256032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BUYER RELEASE</a:t>
            </a:r>
          </a:p>
        </p:txBody>
      </p:sp>
      <p:sp>
        <p:nvSpPr>
          <p:cNvPr id="11" name="TextBox 10"/>
          <p:cNvSpPr txBox="1"/>
          <p:nvPr/>
        </p:nvSpPr>
        <p:spPr>
          <a:xfrm>
            <a:off x="758952" y="2368296"/>
            <a:ext cx="256032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Buyer pays seller after delivery.</a:t>
            </a:r>
          </a:p>
        </p:txBody>
      </p:sp>
      <p:sp>
        <p:nvSpPr>
          <p:cNvPr id="12" name="Rounded Rectangle 11"/>
          <p:cNvSpPr/>
          <p:nvPr/>
        </p:nvSpPr>
        <p:spPr>
          <a:xfrm>
            <a:off x="758952" y="2752344"/>
            <a:ext cx="822960"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775204"/>
            <a:ext cx="731520"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BUYER</a:t>
            </a:r>
          </a:p>
        </p:txBody>
      </p:sp>
      <p:sp>
        <p:nvSpPr>
          <p:cNvPr id="14" name="Rounded Rectangle 13"/>
          <p:cNvSpPr/>
          <p:nvPr/>
        </p:nvSpPr>
        <p:spPr>
          <a:xfrm>
            <a:off x="594360" y="3977639"/>
            <a:ext cx="2880360" cy="11430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4123944"/>
            <a:ext cx="256032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MISSED DELIVERY</a:t>
            </a:r>
          </a:p>
        </p:txBody>
      </p:sp>
      <p:sp>
        <p:nvSpPr>
          <p:cNvPr id="16" name="TextBox 15"/>
          <p:cNvSpPr txBox="1"/>
          <p:nvPr/>
        </p:nvSpPr>
        <p:spPr>
          <a:xfrm>
            <a:off x="758952" y="4425696"/>
            <a:ext cx="256032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Buyer refunds if nothing was submitted.</a:t>
            </a:r>
          </a:p>
        </p:txBody>
      </p:sp>
      <p:sp>
        <p:nvSpPr>
          <p:cNvPr id="17" name="Rounded Rectangle 16"/>
          <p:cNvSpPr/>
          <p:nvPr/>
        </p:nvSpPr>
        <p:spPr>
          <a:xfrm>
            <a:off x="758952" y="4809744"/>
            <a:ext cx="822960"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832604"/>
            <a:ext cx="731520"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BUYER</a:t>
            </a:r>
          </a:p>
        </p:txBody>
      </p:sp>
      <p:sp>
        <p:nvSpPr>
          <p:cNvPr id="19" name="Rounded Rectangle 18"/>
          <p:cNvSpPr/>
          <p:nvPr/>
        </p:nvSpPr>
        <p:spPr>
          <a:xfrm>
            <a:off x="8732520" y="1920240"/>
            <a:ext cx="2880360" cy="11430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97112" y="2066544"/>
            <a:ext cx="256032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REVIEW EXPIRED</a:t>
            </a:r>
          </a:p>
        </p:txBody>
      </p:sp>
      <p:sp>
        <p:nvSpPr>
          <p:cNvPr id="21" name="TextBox 20"/>
          <p:cNvSpPr txBox="1"/>
          <p:nvPr/>
        </p:nvSpPr>
        <p:spPr>
          <a:xfrm>
            <a:off x="8897112" y="2368296"/>
            <a:ext cx="256032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Anyone finalizes to seller if no dispute.</a:t>
            </a:r>
          </a:p>
        </p:txBody>
      </p:sp>
      <p:sp>
        <p:nvSpPr>
          <p:cNvPr id="22" name="Rounded Rectangle 21"/>
          <p:cNvSpPr/>
          <p:nvPr/>
        </p:nvSpPr>
        <p:spPr>
          <a:xfrm>
            <a:off x="8897112" y="2752344"/>
            <a:ext cx="822960"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42832" y="2775204"/>
            <a:ext cx="731520"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ANYONE</a:t>
            </a:r>
          </a:p>
        </p:txBody>
      </p:sp>
      <p:sp>
        <p:nvSpPr>
          <p:cNvPr id="24" name="Rounded Rectangle 23"/>
          <p:cNvSpPr/>
          <p:nvPr/>
        </p:nvSpPr>
        <p:spPr>
          <a:xfrm>
            <a:off x="8732520" y="3977639"/>
            <a:ext cx="2880360" cy="11430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97112" y="4123944"/>
            <a:ext cx="256032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DISPUTE</a:t>
            </a:r>
          </a:p>
        </p:txBody>
      </p:sp>
      <p:sp>
        <p:nvSpPr>
          <p:cNvPr id="26" name="TextBox 25"/>
          <p:cNvSpPr txBox="1"/>
          <p:nvPr/>
        </p:nvSpPr>
        <p:spPr>
          <a:xfrm>
            <a:off x="8897112" y="4425696"/>
            <a:ext cx="256032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Resolver pays one side or splits.</a:t>
            </a:r>
          </a:p>
        </p:txBody>
      </p:sp>
      <p:sp>
        <p:nvSpPr>
          <p:cNvPr id="27" name="Rounded Rectangle 26"/>
          <p:cNvSpPr/>
          <p:nvPr/>
        </p:nvSpPr>
        <p:spPr>
          <a:xfrm>
            <a:off x="8897112" y="4809744"/>
            <a:ext cx="822960"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42832" y="4832604"/>
            <a:ext cx="731520"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RESOLVER</a:t>
            </a:r>
          </a:p>
        </p:txBody>
      </p:sp>
      <p:cxnSp>
        <p:nvCxnSpPr>
          <p:cNvPr id="29" name="Connector 28"/>
          <p:cNvCxnSpPr/>
          <p:nvPr/>
        </p:nvCxnSpPr>
        <p:spPr>
          <a:xfrm>
            <a:off x="3520440" y="2468880"/>
            <a:ext cx="731520" cy="274320"/>
          </a:xfrm>
          <a:prstGeom prst="line">
            <a:avLst/>
          </a:prstGeom>
          <a:ln w="25400">
            <a:solidFill>
              <a:srgbClr val="9FE87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520440" y="3337560"/>
            <a:ext cx="731520" cy="960120"/>
          </a:xfrm>
          <a:prstGeom prst="line">
            <a:avLst/>
          </a:prstGeom>
          <a:ln w="25400">
            <a:solidFill>
              <a:srgbClr val="9FE87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973568" y="2468880"/>
            <a:ext cx="694944" cy="274320"/>
          </a:xfrm>
          <a:prstGeom prst="line">
            <a:avLst/>
          </a:prstGeom>
          <a:ln w="25400">
            <a:solidFill>
              <a:srgbClr val="9FE87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973568" y="3337560"/>
            <a:ext cx="694944" cy="960120"/>
          </a:xfrm>
          <a:prstGeom prst="line">
            <a:avLst/>
          </a:prstGeom>
          <a:ln w="25400">
            <a:solidFill>
              <a:srgbClr val="9FE87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14400" y="5806440"/>
            <a:ext cx="10332720" cy="320040"/>
          </a:xfrm>
          <a:prstGeom prst="rect">
            <a:avLst/>
          </a:prstGeom>
          <a:noFill/>
        </p:spPr>
        <p:txBody>
          <a:bodyPr wrap="square" lIns="0" rIns="0" tIns="0" bIns="0" anchor="t">
            <a:spAutoFit/>
          </a:bodyPr>
          <a:lstStyle/>
          <a:p>
            <a:pPr algn="ctr">
              <a:spcAft>
                <a:spcPts val="0"/>
              </a:spcAft>
            </a:pPr>
            <a:r>
              <a:rPr sz="1300" b="1" i="0">
                <a:solidFill>
                  <a:srgbClr val="163300"/>
                </a:solidFill>
                <a:latin typeface="Aptos"/>
              </a:rPr>
              <a:t>Website prepares transactions and reads the chain. It cannot move escrow funds.</a:t>
            </a:r>
          </a:p>
        </p:txBody>
      </p:sp>
      <p:sp>
        <p:nvSpPr>
          <p:cNvPr id="34" name="Rectangle 33"/>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04  /  PAYMENT FLOW</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Agree, fund, deliver, release. Other endings use the same agreement.</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The contract enforces who can act—and exactly when.</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548640" y="1828800"/>
            <a:ext cx="5532120" cy="429768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400"/>
            <a:ext cx="4389120" cy="274320"/>
          </a:xfrm>
          <a:prstGeom prst="rect">
            <a:avLst/>
          </a:prstGeom>
          <a:noFill/>
        </p:spPr>
        <p:txBody>
          <a:bodyPr wrap="square" lIns="0" rIns="0" tIns="0" bIns="0" anchor="t">
            <a:spAutoFit/>
          </a:bodyPr>
          <a:lstStyle/>
          <a:p>
            <a:pPr algn="l">
              <a:spcAft>
                <a:spcPts val="0"/>
              </a:spcAft>
            </a:pPr>
            <a:r>
              <a:rPr sz="1400" b="1" i="0">
                <a:solidFill>
                  <a:srgbClr val="163300"/>
                </a:solidFill>
                <a:latin typeface="Aptos"/>
              </a:rPr>
              <a:t>HAPPY PATH</a:t>
            </a:r>
          </a:p>
        </p:txBody>
      </p:sp>
      <p:sp>
        <p:nvSpPr>
          <p:cNvPr id="8" name="Oval 7"/>
          <p:cNvSpPr/>
          <p:nvPr/>
        </p:nvSpPr>
        <p:spPr>
          <a:xfrm>
            <a:off x="841248" y="2542032"/>
            <a:ext cx="384048" cy="384048"/>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560320"/>
            <a:ext cx="384048" cy="310896"/>
          </a:xfrm>
          <a:prstGeom prst="rect">
            <a:avLst/>
          </a:prstGeom>
          <a:noFill/>
        </p:spPr>
        <p:txBody>
          <a:bodyPr wrap="square" lIns="0" rIns="0" tIns="0" bIns="0" anchor="ctr">
            <a:spAutoFit/>
          </a:bodyPr>
          <a:lstStyle/>
          <a:p>
            <a:pPr algn="ctr">
              <a:spcAft>
                <a:spcPts val="0"/>
              </a:spcAft>
            </a:pPr>
            <a:r>
              <a:rPr sz="1200" b="1" i="0">
                <a:solidFill>
                  <a:srgbClr val="FFFFFF"/>
                </a:solidFill>
                <a:latin typeface="Aptos"/>
              </a:rPr>
              <a:t>1</a:t>
            </a:r>
          </a:p>
        </p:txBody>
      </p:sp>
      <p:sp>
        <p:nvSpPr>
          <p:cNvPr id="10" name="TextBox 9"/>
          <p:cNvSpPr txBox="1"/>
          <p:nvPr/>
        </p:nvSpPr>
        <p:spPr>
          <a:xfrm>
            <a:off x="1389888" y="2532888"/>
            <a:ext cx="1051560" cy="22860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AGREE</a:t>
            </a:r>
          </a:p>
        </p:txBody>
      </p:sp>
      <p:sp>
        <p:nvSpPr>
          <p:cNvPr id="11" name="TextBox 10"/>
          <p:cNvSpPr txBox="1"/>
          <p:nvPr/>
        </p:nvSpPr>
        <p:spPr>
          <a:xfrm>
            <a:off x="2377440" y="2523744"/>
            <a:ext cx="3337560" cy="502920"/>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Seller writes terms. Review window: 15 min–30 days, starting at delivery.</a:t>
            </a:r>
          </a:p>
        </p:txBody>
      </p:sp>
      <p:cxnSp>
        <p:nvCxnSpPr>
          <p:cNvPr id="12" name="Connector 11"/>
          <p:cNvCxnSpPr/>
          <p:nvPr/>
        </p:nvCxnSpPr>
        <p:spPr>
          <a:xfrm>
            <a:off x="1033271" y="2953512"/>
            <a:ext cx="0" cy="292608"/>
          </a:xfrm>
          <a:prstGeom prst="line">
            <a:avLst/>
          </a:prstGeom>
          <a:ln w="19050">
            <a:solidFill>
              <a:srgbClr val="9FE87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41248" y="3319272"/>
            <a:ext cx="384048" cy="384048"/>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337560"/>
            <a:ext cx="384048" cy="310896"/>
          </a:xfrm>
          <a:prstGeom prst="rect">
            <a:avLst/>
          </a:prstGeom>
          <a:noFill/>
        </p:spPr>
        <p:txBody>
          <a:bodyPr wrap="square" lIns="0" rIns="0" tIns="0" bIns="0" anchor="ctr">
            <a:spAutoFit/>
          </a:bodyPr>
          <a:lstStyle/>
          <a:p>
            <a:pPr algn="ctr">
              <a:spcAft>
                <a:spcPts val="0"/>
              </a:spcAft>
            </a:pPr>
            <a:r>
              <a:rPr sz="1200" b="1" i="0">
                <a:solidFill>
                  <a:srgbClr val="FFFFFF"/>
                </a:solidFill>
                <a:latin typeface="Aptos"/>
              </a:rPr>
              <a:t>2</a:t>
            </a:r>
          </a:p>
        </p:txBody>
      </p:sp>
      <p:sp>
        <p:nvSpPr>
          <p:cNvPr id="15" name="TextBox 14"/>
          <p:cNvSpPr txBox="1"/>
          <p:nvPr/>
        </p:nvSpPr>
        <p:spPr>
          <a:xfrm>
            <a:off x="1389888" y="3310128"/>
            <a:ext cx="1051560" cy="22860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FUND</a:t>
            </a:r>
          </a:p>
        </p:txBody>
      </p:sp>
      <p:sp>
        <p:nvSpPr>
          <p:cNvPr id="16" name="TextBox 15"/>
          <p:cNvSpPr txBox="1"/>
          <p:nvPr/>
        </p:nvSpPr>
        <p:spPr>
          <a:xfrm>
            <a:off x="2377440" y="3300984"/>
            <a:ext cx="3337560" cy="502920"/>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Buyer approves MUSD if needed, then funds the exact amount by deadline.</a:t>
            </a:r>
          </a:p>
        </p:txBody>
      </p:sp>
      <p:cxnSp>
        <p:nvCxnSpPr>
          <p:cNvPr id="17" name="Connector 16"/>
          <p:cNvCxnSpPr/>
          <p:nvPr/>
        </p:nvCxnSpPr>
        <p:spPr>
          <a:xfrm>
            <a:off x="1033271" y="3730752"/>
            <a:ext cx="0" cy="292608"/>
          </a:xfrm>
          <a:prstGeom prst="line">
            <a:avLst/>
          </a:prstGeom>
          <a:ln w="19050">
            <a:solidFill>
              <a:srgbClr val="9FE87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841248" y="4096511"/>
            <a:ext cx="384048" cy="384048"/>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114799"/>
            <a:ext cx="384048" cy="310896"/>
          </a:xfrm>
          <a:prstGeom prst="rect">
            <a:avLst/>
          </a:prstGeom>
          <a:noFill/>
        </p:spPr>
        <p:txBody>
          <a:bodyPr wrap="square" lIns="0" rIns="0" tIns="0" bIns="0" anchor="ctr">
            <a:spAutoFit/>
          </a:bodyPr>
          <a:lstStyle/>
          <a:p>
            <a:pPr algn="ctr">
              <a:spcAft>
                <a:spcPts val="0"/>
              </a:spcAft>
            </a:pPr>
            <a:r>
              <a:rPr sz="1200" b="1" i="0">
                <a:solidFill>
                  <a:srgbClr val="FFFFFF"/>
                </a:solidFill>
                <a:latin typeface="Aptos"/>
              </a:rPr>
              <a:t>3</a:t>
            </a:r>
          </a:p>
        </p:txBody>
      </p:sp>
      <p:sp>
        <p:nvSpPr>
          <p:cNvPr id="20" name="TextBox 19"/>
          <p:cNvSpPr txBox="1"/>
          <p:nvPr/>
        </p:nvSpPr>
        <p:spPr>
          <a:xfrm>
            <a:off x="1389888" y="4087368"/>
            <a:ext cx="1051560" cy="22860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DELIVER</a:t>
            </a:r>
          </a:p>
        </p:txBody>
      </p:sp>
      <p:sp>
        <p:nvSpPr>
          <p:cNvPr id="21" name="TextBox 20"/>
          <p:cNvSpPr txBox="1"/>
          <p:nvPr/>
        </p:nvSpPr>
        <p:spPr>
          <a:xfrm>
            <a:off x="2377440" y="4078224"/>
            <a:ext cx="3337560" cy="502920"/>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Seller submits note + optional link by deadline; text and hash are stored.</a:t>
            </a:r>
          </a:p>
        </p:txBody>
      </p:sp>
      <p:cxnSp>
        <p:nvCxnSpPr>
          <p:cNvPr id="22" name="Connector 21"/>
          <p:cNvCxnSpPr/>
          <p:nvPr/>
        </p:nvCxnSpPr>
        <p:spPr>
          <a:xfrm>
            <a:off x="1033271" y="4507992"/>
            <a:ext cx="0" cy="292608"/>
          </a:xfrm>
          <a:prstGeom prst="line">
            <a:avLst/>
          </a:prstGeom>
          <a:ln w="19050">
            <a:solidFill>
              <a:srgbClr val="9FE87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41248" y="4873752"/>
            <a:ext cx="384048" cy="384048"/>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892040"/>
            <a:ext cx="384048" cy="310896"/>
          </a:xfrm>
          <a:prstGeom prst="rect">
            <a:avLst/>
          </a:prstGeom>
          <a:noFill/>
        </p:spPr>
        <p:txBody>
          <a:bodyPr wrap="square" lIns="0" rIns="0" tIns="0" bIns="0" anchor="ctr">
            <a:spAutoFit/>
          </a:bodyPr>
          <a:lstStyle/>
          <a:p>
            <a:pPr algn="ctr">
              <a:spcAft>
                <a:spcPts val="0"/>
              </a:spcAft>
            </a:pPr>
            <a:r>
              <a:rPr sz="1200" b="1" i="0">
                <a:solidFill>
                  <a:srgbClr val="163300"/>
                </a:solidFill>
                <a:latin typeface="Aptos"/>
              </a:rPr>
              <a:t>4</a:t>
            </a:r>
          </a:p>
        </p:txBody>
      </p:sp>
      <p:sp>
        <p:nvSpPr>
          <p:cNvPr id="25" name="TextBox 24"/>
          <p:cNvSpPr txBox="1"/>
          <p:nvPr/>
        </p:nvSpPr>
        <p:spPr>
          <a:xfrm>
            <a:off x="1389888" y="4864608"/>
            <a:ext cx="1051560" cy="22860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RELEASE</a:t>
            </a:r>
          </a:p>
        </p:txBody>
      </p:sp>
      <p:sp>
        <p:nvSpPr>
          <p:cNvPr id="26" name="TextBox 25"/>
          <p:cNvSpPr txBox="1"/>
          <p:nvPr/>
        </p:nvSpPr>
        <p:spPr>
          <a:xfrm>
            <a:off x="2377440" y="4855464"/>
            <a:ext cx="3337560" cy="502920"/>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Buyer pays seller the full amount by the review deadline.</a:t>
            </a:r>
          </a:p>
        </p:txBody>
      </p:sp>
      <p:sp>
        <p:nvSpPr>
          <p:cNvPr id="27" name="Rounded Rectangle 26"/>
          <p:cNvSpPr/>
          <p:nvPr/>
        </p:nvSpPr>
        <p:spPr>
          <a:xfrm>
            <a:off x="6309360" y="1828800"/>
            <a:ext cx="5303520" cy="4297680"/>
          </a:xfrm>
          <a:prstGeom prst="roundRect">
            <a:avLst/>
          </a:prstGeom>
          <a:solidFill>
            <a:srgbClr val="FFFFFF"/>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2057400"/>
            <a:ext cx="4389120" cy="274320"/>
          </a:xfrm>
          <a:prstGeom prst="rect">
            <a:avLst/>
          </a:prstGeom>
          <a:noFill/>
        </p:spPr>
        <p:txBody>
          <a:bodyPr wrap="square" lIns="0" rIns="0" tIns="0" bIns="0" anchor="t">
            <a:spAutoFit/>
          </a:bodyPr>
          <a:lstStyle/>
          <a:p>
            <a:pPr algn="l">
              <a:spcAft>
                <a:spcPts val="0"/>
              </a:spcAft>
            </a:pPr>
            <a:r>
              <a:rPr sz="1400" b="1" i="0">
                <a:solidFill>
                  <a:srgbClr val="163300"/>
                </a:solidFill>
                <a:latin typeface="Aptos"/>
              </a:rPr>
              <a:t>OTHER ENDINGS</a:t>
            </a:r>
          </a:p>
        </p:txBody>
      </p:sp>
      <p:sp>
        <p:nvSpPr>
          <p:cNvPr id="29" name="Rounded Rectangle 28"/>
          <p:cNvSpPr/>
          <p:nvPr/>
        </p:nvSpPr>
        <p:spPr>
          <a:xfrm>
            <a:off x="6583680" y="2514600"/>
            <a:ext cx="987552"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2537460"/>
            <a:ext cx="896112"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CANCEL</a:t>
            </a:r>
          </a:p>
        </p:txBody>
      </p:sp>
      <p:sp>
        <p:nvSpPr>
          <p:cNvPr id="31" name="TextBox 30"/>
          <p:cNvSpPr txBox="1"/>
          <p:nvPr/>
        </p:nvSpPr>
        <p:spPr>
          <a:xfrm>
            <a:off x="7754112" y="2532888"/>
            <a:ext cx="3520440" cy="438912"/>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Unfunded: seller cancels; anyone can cancel after funding deadline.</a:t>
            </a:r>
          </a:p>
        </p:txBody>
      </p:sp>
      <p:sp>
        <p:nvSpPr>
          <p:cNvPr id="32" name="Rounded Rectangle 31"/>
          <p:cNvSpPr/>
          <p:nvPr/>
        </p:nvSpPr>
        <p:spPr>
          <a:xfrm>
            <a:off x="6583680" y="3136392"/>
            <a:ext cx="987552"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3159252"/>
            <a:ext cx="896112"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REFUND</a:t>
            </a:r>
          </a:p>
        </p:txBody>
      </p:sp>
      <p:sp>
        <p:nvSpPr>
          <p:cNvPr id="34" name="TextBox 33"/>
          <p:cNvSpPr txBox="1"/>
          <p:nvPr/>
        </p:nvSpPr>
        <p:spPr>
          <a:xfrm>
            <a:off x="7754112" y="3154680"/>
            <a:ext cx="3520440" cy="438912"/>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Buyer refunds after delivery deadline if no delivery was submitted.</a:t>
            </a:r>
          </a:p>
        </p:txBody>
      </p:sp>
      <p:sp>
        <p:nvSpPr>
          <p:cNvPr id="35" name="Rounded Rectangle 34"/>
          <p:cNvSpPr/>
          <p:nvPr/>
        </p:nvSpPr>
        <p:spPr>
          <a:xfrm>
            <a:off x="6583680" y="3758184"/>
            <a:ext cx="987552"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3781044"/>
            <a:ext cx="896112"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DISPUTE</a:t>
            </a:r>
          </a:p>
        </p:txBody>
      </p:sp>
      <p:sp>
        <p:nvSpPr>
          <p:cNvPr id="37" name="TextBox 36"/>
          <p:cNvSpPr txBox="1"/>
          <p:nvPr/>
        </p:nvSpPr>
        <p:spPr>
          <a:xfrm>
            <a:off x="7754112" y="3776472"/>
            <a:ext cx="3520440" cy="438912"/>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Buyer or seller disputes during review; settlement actions freeze.</a:t>
            </a:r>
          </a:p>
        </p:txBody>
      </p:sp>
      <p:sp>
        <p:nvSpPr>
          <p:cNvPr id="38" name="Rounded Rectangle 37"/>
          <p:cNvSpPr/>
          <p:nvPr/>
        </p:nvSpPr>
        <p:spPr>
          <a:xfrm>
            <a:off x="6583680" y="4379976"/>
            <a:ext cx="987552"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29400" y="4402836"/>
            <a:ext cx="896112"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RESOLVE</a:t>
            </a:r>
          </a:p>
        </p:txBody>
      </p:sp>
      <p:sp>
        <p:nvSpPr>
          <p:cNvPr id="40" name="TextBox 39"/>
          <p:cNvSpPr txBox="1"/>
          <p:nvPr/>
        </p:nvSpPr>
        <p:spPr>
          <a:xfrm>
            <a:off x="7754112" y="4398264"/>
            <a:ext cx="3520440" cy="438912"/>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Resolver pays seller, refunds buyer, or splits the amount.</a:t>
            </a:r>
          </a:p>
        </p:txBody>
      </p:sp>
      <p:sp>
        <p:nvSpPr>
          <p:cNvPr id="41" name="Rounded Rectangle 40"/>
          <p:cNvSpPr/>
          <p:nvPr/>
        </p:nvSpPr>
        <p:spPr>
          <a:xfrm>
            <a:off x="6583680" y="5001768"/>
            <a:ext cx="987552"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0" y="5024628"/>
            <a:ext cx="896112" cy="237744"/>
          </a:xfrm>
          <a:prstGeom prst="rect">
            <a:avLst/>
          </a:prstGeom>
          <a:noFill/>
        </p:spPr>
        <p:txBody>
          <a:bodyPr wrap="square" lIns="0" rIns="0" tIns="0" bIns="0" anchor="ctr">
            <a:spAutoFit/>
          </a:bodyPr>
          <a:lstStyle/>
          <a:p>
            <a:pPr algn="ctr">
              <a:spcAft>
                <a:spcPts val="0"/>
              </a:spcAft>
            </a:pPr>
            <a:r>
              <a:rPr sz="800" b="1" i="0">
                <a:solidFill>
                  <a:srgbClr val="163300"/>
                </a:solidFill>
                <a:latin typeface="Aptos"/>
              </a:rPr>
              <a:t>FINALIZE</a:t>
            </a:r>
          </a:p>
        </p:txBody>
      </p:sp>
      <p:sp>
        <p:nvSpPr>
          <p:cNvPr id="43" name="TextBox 42"/>
          <p:cNvSpPr txBox="1"/>
          <p:nvPr/>
        </p:nvSpPr>
        <p:spPr>
          <a:xfrm>
            <a:off x="7754112" y="5020056"/>
            <a:ext cx="3520440" cy="438912"/>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After review, anyone can finalize to seller if nobody disputed.</a:t>
            </a:r>
          </a:p>
        </p:txBody>
      </p:sp>
      <p:sp>
        <p:nvSpPr>
          <p:cNvPr id="44" name="Rounded Rectangle 43"/>
          <p:cNvSpPr/>
          <p:nvPr/>
        </p:nvSpPr>
        <p:spPr>
          <a:xfrm>
            <a:off x="914400" y="6245352"/>
            <a:ext cx="10332720" cy="219456"/>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6245352"/>
            <a:ext cx="10149840" cy="210312"/>
          </a:xfrm>
          <a:prstGeom prst="rect">
            <a:avLst/>
          </a:prstGeom>
          <a:noFill/>
        </p:spPr>
        <p:txBody>
          <a:bodyPr wrap="square" lIns="0" rIns="0" tIns="0" bIns="0" anchor="ctr">
            <a:spAutoFit/>
          </a:bodyPr>
          <a:lstStyle/>
          <a:p>
            <a:pPr algn="ctr">
              <a:spcAft>
                <a:spcPts val="0"/>
              </a:spcAft>
            </a:pPr>
            <a:r>
              <a:rPr sz="950" b="1" i="0">
                <a:solidFill>
                  <a:srgbClr val="163300"/>
                </a:solidFill>
                <a:latin typeface="Aptos"/>
              </a:rPr>
              <a:t>LOGO PACK EXAMPLE: seller can deliver at the exact deadline; refund opens one second later.</a:t>
            </a:r>
          </a:p>
        </p:txBody>
      </p:sp>
      <p:sp>
        <p:nvSpPr>
          <p:cNvPr id="46" name="Rectangle 45"/>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05  /  LIVE FEATURES</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These capabilities are on the deployed contract—not a roadmap.</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Current deployment: Mezo Testnet · Chain 31611</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594360" y="1874519"/>
            <a:ext cx="3246120" cy="16002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20824"/>
            <a:ext cx="457200" cy="27432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01</a:t>
            </a:r>
          </a:p>
        </p:txBody>
      </p:sp>
      <p:sp>
        <p:nvSpPr>
          <p:cNvPr id="8" name="Rectangle 7"/>
          <p:cNvSpPr/>
          <p:nvPr/>
        </p:nvSpPr>
        <p:spPr>
          <a:xfrm>
            <a:off x="758952" y="2359152"/>
            <a:ext cx="475488" cy="54864"/>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532887"/>
            <a:ext cx="288036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NAMED / OPEN BUYER</a:t>
            </a:r>
          </a:p>
        </p:txBody>
      </p:sp>
      <p:sp>
        <p:nvSpPr>
          <p:cNvPr id="10" name="TextBox 9"/>
          <p:cNvSpPr txBox="1"/>
          <p:nvPr/>
        </p:nvSpPr>
        <p:spPr>
          <a:xfrm>
            <a:off x="758952" y="2862072"/>
            <a:ext cx="2852928" cy="47548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First allowed funder of an open link becomes buyer.</a:t>
            </a:r>
          </a:p>
        </p:txBody>
      </p:sp>
      <p:sp>
        <p:nvSpPr>
          <p:cNvPr id="11" name="Rounded Rectangle 10"/>
          <p:cNvSpPr/>
          <p:nvPr/>
        </p:nvSpPr>
        <p:spPr>
          <a:xfrm>
            <a:off x="4160520" y="1874519"/>
            <a:ext cx="3246120" cy="16002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2020824"/>
            <a:ext cx="457200" cy="27432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02</a:t>
            </a:r>
          </a:p>
        </p:txBody>
      </p:sp>
      <p:sp>
        <p:nvSpPr>
          <p:cNvPr id="13" name="Rectangle 12"/>
          <p:cNvSpPr/>
          <p:nvPr/>
        </p:nvSpPr>
        <p:spPr>
          <a:xfrm>
            <a:off x="4325112" y="2359152"/>
            <a:ext cx="475488" cy="54864"/>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532887"/>
            <a:ext cx="288036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MILESTONES</a:t>
            </a:r>
          </a:p>
        </p:txBody>
      </p:sp>
      <p:sp>
        <p:nvSpPr>
          <p:cNvPr id="15" name="TextBox 14"/>
          <p:cNvSpPr txBox="1"/>
          <p:nvPr/>
        </p:nvSpPr>
        <p:spPr>
          <a:xfrm>
            <a:off x="4325112" y="2862072"/>
            <a:ext cx="2852928" cy="47548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2–5 stages; each stage is its own agreement.</a:t>
            </a:r>
          </a:p>
        </p:txBody>
      </p:sp>
      <p:sp>
        <p:nvSpPr>
          <p:cNvPr id="16" name="Rounded Rectangle 15"/>
          <p:cNvSpPr/>
          <p:nvPr/>
        </p:nvSpPr>
        <p:spPr>
          <a:xfrm>
            <a:off x="7726679" y="1874519"/>
            <a:ext cx="3246120" cy="16002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1271" y="2020824"/>
            <a:ext cx="457200" cy="27432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03</a:t>
            </a:r>
          </a:p>
        </p:txBody>
      </p:sp>
      <p:sp>
        <p:nvSpPr>
          <p:cNvPr id="18" name="Rectangle 17"/>
          <p:cNvSpPr/>
          <p:nvPr/>
        </p:nvSpPr>
        <p:spPr>
          <a:xfrm>
            <a:off x="7891271" y="2359152"/>
            <a:ext cx="475488" cy="54864"/>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91271" y="2532887"/>
            <a:ext cx="288036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EVIDENCE HASH</a:t>
            </a:r>
          </a:p>
        </p:txBody>
      </p:sp>
      <p:sp>
        <p:nvSpPr>
          <p:cNvPr id="20" name="TextBox 19"/>
          <p:cNvSpPr txBox="1"/>
          <p:nvPr/>
        </p:nvSpPr>
        <p:spPr>
          <a:xfrm>
            <a:off x="7891271" y="2862072"/>
            <a:ext cx="2852928" cy="47548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Records note and link; does not prove acceptability.</a:t>
            </a:r>
          </a:p>
        </p:txBody>
      </p:sp>
      <p:sp>
        <p:nvSpPr>
          <p:cNvPr id="21" name="Rounded Rectangle 20"/>
          <p:cNvSpPr/>
          <p:nvPr/>
        </p:nvSpPr>
        <p:spPr>
          <a:xfrm>
            <a:off x="594360" y="3794760"/>
            <a:ext cx="3246120" cy="16002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941064"/>
            <a:ext cx="457200" cy="27432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04</a:t>
            </a:r>
          </a:p>
        </p:txBody>
      </p:sp>
      <p:sp>
        <p:nvSpPr>
          <p:cNvPr id="23" name="Rectangle 22"/>
          <p:cNvSpPr/>
          <p:nvPr/>
        </p:nvSpPr>
        <p:spPr>
          <a:xfrm>
            <a:off x="758952" y="4279392"/>
            <a:ext cx="475488" cy="54864"/>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453128"/>
            <a:ext cx="288036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DISPUTE + SPLIT</a:t>
            </a:r>
          </a:p>
        </p:txBody>
      </p:sp>
      <p:sp>
        <p:nvSpPr>
          <p:cNvPr id="25" name="TextBox 24"/>
          <p:cNvSpPr txBox="1"/>
          <p:nvPr/>
        </p:nvSpPr>
        <p:spPr>
          <a:xfrm>
            <a:off x="758952" y="4782312"/>
            <a:ext cx="2852928" cy="47548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Resolver only; split cannot pay full amount to one side.</a:t>
            </a:r>
          </a:p>
        </p:txBody>
      </p:sp>
      <p:sp>
        <p:nvSpPr>
          <p:cNvPr id="26" name="Rounded Rectangle 25"/>
          <p:cNvSpPr/>
          <p:nvPr/>
        </p:nvSpPr>
        <p:spPr>
          <a:xfrm>
            <a:off x="4160520" y="3794760"/>
            <a:ext cx="3246120" cy="16002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5112" y="3941064"/>
            <a:ext cx="457200" cy="27432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05</a:t>
            </a:r>
          </a:p>
        </p:txBody>
      </p:sp>
      <p:sp>
        <p:nvSpPr>
          <p:cNvPr id="28" name="Rectangle 27"/>
          <p:cNvSpPr/>
          <p:nvPr/>
        </p:nvSpPr>
        <p:spPr>
          <a:xfrm>
            <a:off x="4325112" y="4279392"/>
            <a:ext cx="475488" cy="54864"/>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25112" y="4453128"/>
            <a:ext cx="288036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AGENT BUDGET</a:t>
            </a:r>
          </a:p>
        </p:txBody>
      </p:sp>
      <p:sp>
        <p:nvSpPr>
          <p:cNvPr id="30" name="TextBox 29"/>
          <p:cNvSpPr txBox="1"/>
          <p:nvPr/>
        </p:nvSpPr>
        <p:spPr>
          <a:xfrm>
            <a:off x="4325112" y="4782312"/>
            <a:ext cx="2852928" cy="47548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Funds agreements naming buyer, within remaining cap.</a:t>
            </a:r>
          </a:p>
        </p:txBody>
      </p:sp>
      <p:sp>
        <p:nvSpPr>
          <p:cNvPr id="31" name="Rounded Rectangle 30"/>
          <p:cNvSpPr/>
          <p:nvPr/>
        </p:nvSpPr>
        <p:spPr>
          <a:xfrm>
            <a:off x="7726679" y="3794760"/>
            <a:ext cx="3246120" cy="160020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91271" y="3941064"/>
            <a:ext cx="457200" cy="274320"/>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06</a:t>
            </a:r>
          </a:p>
        </p:txBody>
      </p:sp>
      <p:sp>
        <p:nvSpPr>
          <p:cNvPr id="33" name="Rectangle 32"/>
          <p:cNvSpPr/>
          <p:nvPr/>
        </p:nvSpPr>
        <p:spPr>
          <a:xfrm>
            <a:off x="7891271" y="4279392"/>
            <a:ext cx="475488" cy="54864"/>
          </a:xfrm>
          <a:prstGeom prst="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91271" y="4453128"/>
            <a:ext cx="2880360" cy="256032"/>
          </a:xfrm>
          <a:prstGeom prst="rect">
            <a:avLst/>
          </a:prstGeom>
          <a:noFill/>
        </p:spPr>
        <p:txBody>
          <a:bodyPr wrap="square" lIns="0" rIns="0" tIns="0" bIns="0" anchor="t">
            <a:spAutoFit/>
          </a:bodyPr>
          <a:lstStyle/>
          <a:p>
            <a:pPr algn="l">
              <a:spcAft>
                <a:spcPts val="0"/>
              </a:spcAft>
            </a:pPr>
            <a:r>
              <a:rPr sz="1200" b="1" i="0">
                <a:solidFill>
                  <a:srgbClr val="163300"/>
                </a:solidFill>
                <a:latin typeface="Aptos"/>
              </a:rPr>
              <a:t>CHAIN-READ UI</a:t>
            </a:r>
          </a:p>
        </p:txBody>
      </p:sp>
      <p:sp>
        <p:nvSpPr>
          <p:cNvPr id="35" name="TextBox 34"/>
          <p:cNvSpPr txBox="1"/>
          <p:nvPr/>
        </p:nvSpPr>
        <p:spPr>
          <a:xfrm>
            <a:off x="7891271" y="4782312"/>
            <a:ext cx="2852928" cy="47548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Dashboard, seller page, receipts, activity, docs. No database.</a:t>
            </a:r>
          </a:p>
        </p:txBody>
      </p:sp>
      <p:sp>
        <p:nvSpPr>
          <p:cNvPr id="36" name="Rounded Rectangle 35"/>
          <p:cNvSpPr/>
          <p:nvPr/>
        </p:nvSpPr>
        <p:spPr>
          <a:xfrm>
            <a:off x="685800" y="5715000"/>
            <a:ext cx="10789920" cy="457200"/>
          </a:xfrm>
          <a:prstGeom prst="round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815584"/>
            <a:ext cx="10424160" cy="228600"/>
          </a:xfrm>
          <a:prstGeom prst="rect">
            <a:avLst/>
          </a:prstGeom>
          <a:noFill/>
        </p:spPr>
        <p:txBody>
          <a:bodyPr wrap="square" lIns="0" rIns="0" tIns="0" bIns="0" anchor="t">
            <a:spAutoFit/>
          </a:bodyPr>
          <a:lstStyle/>
          <a:p>
            <a:pPr algn="ctr">
              <a:spcAft>
                <a:spcPts val="0"/>
              </a:spcAft>
            </a:pPr>
            <a:r>
              <a:rPr sz="1100" b="1" i="0">
                <a:solidFill>
                  <a:srgbClr val="FFFFFF"/>
                </a:solidFill>
                <a:latin typeface="Aptos"/>
              </a:rPr>
              <a:t>NEW CHECKOUTS USE  0x22535C947Fd951bbC6C03f8D8A1159ad3a159c46</a:t>
            </a:r>
          </a:p>
        </p:txBody>
      </p:sp>
      <p:sp>
        <p:nvSpPr>
          <p:cNvPr id="38" name="Rectangle 37"/>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06  /  TRUST MODEL</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The interface is not allowed to declare success by itself.</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Contract rules define the outcome; the website prepares transactions and reads state.</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685800" y="1874519"/>
            <a:ext cx="6583680" cy="530352"/>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248" y="1975103"/>
            <a:ext cx="310896" cy="310896"/>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984248"/>
            <a:ext cx="310896" cy="274320"/>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01</a:t>
            </a:r>
          </a:p>
        </p:txBody>
      </p:sp>
      <p:sp>
        <p:nvSpPr>
          <p:cNvPr id="9" name="TextBox 8"/>
          <p:cNvSpPr txBox="1"/>
          <p:nvPr/>
        </p:nvSpPr>
        <p:spPr>
          <a:xfrm>
            <a:off x="1353312" y="1965960"/>
            <a:ext cx="1965960" cy="256032"/>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NO ADMIN WITHDRAWAL</a:t>
            </a:r>
          </a:p>
        </p:txBody>
      </p:sp>
      <p:sp>
        <p:nvSpPr>
          <p:cNvPr id="10" name="TextBox 9"/>
          <p:cNvSpPr txBox="1"/>
          <p:nvPr/>
        </p:nvSpPr>
        <p:spPr>
          <a:xfrm>
            <a:off x="3337560" y="1965960"/>
            <a:ext cx="3657600" cy="29260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Website has no key to withdraw escrow funds.</a:t>
            </a:r>
          </a:p>
        </p:txBody>
      </p:sp>
      <p:sp>
        <p:nvSpPr>
          <p:cNvPr id="11" name="Rounded Rectangle 10"/>
          <p:cNvSpPr/>
          <p:nvPr/>
        </p:nvSpPr>
        <p:spPr>
          <a:xfrm>
            <a:off x="685800" y="2542032"/>
            <a:ext cx="6583680" cy="530352"/>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1248" y="2642615"/>
            <a:ext cx="310896" cy="310896"/>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651760"/>
            <a:ext cx="310896" cy="274320"/>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02</a:t>
            </a:r>
          </a:p>
        </p:txBody>
      </p:sp>
      <p:sp>
        <p:nvSpPr>
          <p:cNvPr id="14" name="TextBox 13"/>
          <p:cNvSpPr txBox="1"/>
          <p:nvPr/>
        </p:nvSpPr>
        <p:spPr>
          <a:xfrm>
            <a:off x="1353312" y="2633472"/>
            <a:ext cx="1965960" cy="256032"/>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NO PROTOCOL FEE</a:t>
            </a:r>
          </a:p>
        </p:txBody>
      </p:sp>
      <p:sp>
        <p:nvSpPr>
          <p:cNvPr id="15" name="TextBox 14"/>
          <p:cNvSpPr txBox="1"/>
          <p:nvPr/>
        </p:nvSpPr>
        <p:spPr>
          <a:xfrm>
            <a:off x="3337560" y="2633472"/>
            <a:ext cx="3657600" cy="29260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Wallet displays BTC network fee before signing.</a:t>
            </a:r>
          </a:p>
        </p:txBody>
      </p:sp>
      <p:sp>
        <p:nvSpPr>
          <p:cNvPr id="16" name="Rounded Rectangle 15"/>
          <p:cNvSpPr/>
          <p:nvPr/>
        </p:nvSpPr>
        <p:spPr>
          <a:xfrm>
            <a:off x="685800" y="3209544"/>
            <a:ext cx="6583680" cy="530352"/>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248" y="3310127"/>
            <a:ext cx="310896" cy="310896"/>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319272"/>
            <a:ext cx="310896" cy="274320"/>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03</a:t>
            </a:r>
          </a:p>
        </p:txBody>
      </p:sp>
      <p:sp>
        <p:nvSpPr>
          <p:cNvPr id="19" name="TextBox 18"/>
          <p:cNvSpPr txBox="1"/>
          <p:nvPr/>
        </p:nvSpPr>
        <p:spPr>
          <a:xfrm>
            <a:off x="1353312" y="3300984"/>
            <a:ext cx="1965960" cy="256032"/>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EXACT AMOUNT</a:t>
            </a:r>
          </a:p>
        </p:txBody>
      </p:sp>
      <p:sp>
        <p:nvSpPr>
          <p:cNvPr id="20" name="TextBox 19"/>
          <p:cNvSpPr txBox="1"/>
          <p:nvPr/>
        </p:nvSpPr>
        <p:spPr>
          <a:xfrm>
            <a:off x="3337560" y="3300984"/>
            <a:ext cx="3657600" cy="29260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Pulled MUSD must match the stored invoice amount.</a:t>
            </a:r>
          </a:p>
        </p:txBody>
      </p:sp>
      <p:sp>
        <p:nvSpPr>
          <p:cNvPr id="21" name="Rounded Rectangle 20"/>
          <p:cNvSpPr/>
          <p:nvPr/>
        </p:nvSpPr>
        <p:spPr>
          <a:xfrm>
            <a:off x="685800" y="3877056"/>
            <a:ext cx="6583680" cy="530352"/>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1248" y="3977640"/>
            <a:ext cx="310896" cy="310896"/>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3986784"/>
            <a:ext cx="310896" cy="274320"/>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04</a:t>
            </a:r>
          </a:p>
        </p:txBody>
      </p:sp>
      <p:sp>
        <p:nvSpPr>
          <p:cNvPr id="24" name="TextBox 23"/>
          <p:cNvSpPr txBox="1"/>
          <p:nvPr/>
        </p:nvSpPr>
        <p:spPr>
          <a:xfrm>
            <a:off x="1353312" y="3968496"/>
            <a:ext cx="1965960" cy="256032"/>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HASH CHECKS</a:t>
            </a:r>
          </a:p>
        </p:txBody>
      </p:sp>
      <p:sp>
        <p:nvSpPr>
          <p:cNvPr id="25" name="TextBox 24"/>
          <p:cNvSpPr txBox="1"/>
          <p:nvPr/>
        </p:nvSpPr>
        <p:spPr>
          <a:xfrm>
            <a:off x="3337560" y="3968496"/>
            <a:ext cx="3657600" cy="29260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Terms, delivery note, and dispute reason checked against hashes.</a:t>
            </a:r>
          </a:p>
        </p:txBody>
      </p:sp>
      <p:sp>
        <p:nvSpPr>
          <p:cNvPr id="26" name="Rounded Rectangle 25"/>
          <p:cNvSpPr/>
          <p:nvPr/>
        </p:nvSpPr>
        <p:spPr>
          <a:xfrm>
            <a:off x="685800" y="4544568"/>
            <a:ext cx="6583680" cy="530352"/>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1248" y="4645152"/>
            <a:ext cx="310896" cy="310896"/>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4654296"/>
            <a:ext cx="310896" cy="274320"/>
          </a:xfrm>
          <a:prstGeom prst="rect">
            <a:avLst/>
          </a:prstGeom>
          <a:noFill/>
        </p:spPr>
        <p:txBody>
          <a:bodyPr wrap="square" lIns="0" rIns="0" tIns="0" bIns="0" anchor="ctr">
            <a:spAutoFit/>
          </a:bodyPr>
          <a:lstStyle/>
          <a:p>
            <a:pPr algn="ctr">
              <a:spcAft>
                <a:spcPts val="0"/>
              </a:spcAft>
            </a:pPr>
            <a:r>
              <a:rPr sz="900" b="1" i="0">
                <a:solidFill>
                  <a:srgbClr val="163300"/>
                </a:solidFill>
                <a:latin typeface="Aptos"/>
              </a:rPr>
              <a:t>05</a:t>
            </a:r>
          </a:p>
        </p:txBody>
      </p:sp>
      <p:sp>
        <p:nvSpPr>
          <p:cNvPr id="29" name="TextBox 28"/>
          <p:cNvSpPr txBox="1"/>
          <p:nvPr/>
        </p:nvSpPr>
        <p:spPr>
          <a:xfrm>
            <a:off x="1353312" y="4636007"/>
            <a:ext cx="1965960" cy="256032"/>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READ AFTER RECEIPT</a:t>
            </a:r>
          </a:p>
        </p:txBody>
      </p:sp>
      <p:sp>
        <p:nvSpPr>
          <p:cNvPr id="30" name="TextBox 29"/>
          <p:cNvSpPr txBox="1"/>
          <p:nvPr/>
        </p:nvSpPr>
        <p:spPr>
          <a:xfrm>
            <a:off x="3337560" y="4636007"/>
            <a:ext cx="3657600" cy="29260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App reads agreement again before showing updated state.</a:t>
            </a:r>
          </a:p>
        </p:txBody>
      </p:sp>
      <p:sp>
        <p:nvSpPr>
          <p:cNvPr id="31" name="Rounded Rectangle 30"/>
          <p:cNvSpPr/>
          <p:nvPr/>
        </p:nvSpPr>
        <p:spPr>
          <a:xfrm>
            <a:off x="7726679" y="1874519"/>
            <a:ext cx="3703320" cy="1874519"/>
          </a:xfrm>
          <a:prstGeom prst="round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0" y="2148840"/>
            <a:ext cx="3108960" cy="228600"/>
          </a:xfrm>
          <a:prstGeom prst="rect">
            <a:avLst/>
          </a:prstGeom>
          <a:noFill/>
        </p:spPr>
        <p:txBody>
          <a:bodyPr wrap="square" lIns="0" rIns="0" tIns="0" bIns="0" anchor="t">
            <a:spAutoFit/>
          </a:bodyPr>
          <a:lstStyle/>
          <a:p>
            <a:pPr algn="l">
              <a:spcAft>
                <a:spcPts val="0"/>
              </a:spcAft>
            </a:pPr>
            <a:r>
              <a:rPr sz="1100" b="1" i="0">
                <a:solidFill>
                  <a:srgbClr val="9FE870"/>
                </a:solidFill>
                <a:latin typeface="Aptos"/>
              </a:rPr>
              <a:t>TRANSACTION RECEIPT</a:t>
            </a:r>
          </a:p>
        </p:txBody>
      </p:sp>
      <p:sp>
        <p:nvSpPr>
          <p:cNvPr id="33" name="TextBox 32"/>
          <p:cNvSpPr txBox="1"/>
          <p:nvPr/>
        </p:nvSpPr>
        <p:spPr>
          <a:xfrm>
            <a:off x="8001000" y="2587752"/>
            <a:ext cx="1280160" cy="274320"/>
          </a:xfrm>
          <a:prstGeom prst="rect">
            <a:avLst/>
          </a:prstGeom>
          <a:noFill/>
        </p:spPr>
        <p:txBody>
          <a:bodyPr wrap="square" lIns="0" rIns="0" tIns="0" bIns="0" anchor="t">
            <a:spAutoFit/>
          </a:bodyPr>
          <a:lstStyle/>
          <a:p>
            <a:pPr algn="l">
              <a:spcAft>
                <a:spcPts val="0"/>
              </a:spcAft>
            </a:pPr>
            <a:r>
              <a:rPr sz="1500" b="1" i="0">
                <a:solidFill>
                  <a:srgbClr val="FFFFFF"/>
                </a:solidFill>
                <a:latin typeface="Aptos"/>
              </a:rPr>
              <a:t>Submitted</a:t>
            </a:r>
          </a:p>
        </p:txBody>
      </p:sp>
      <p:sp>
        <p:nvSpPr>
          <p:cNvPr id="34" name="TextBox 33"/>
          <p:cNvSpPr txBox="1"/>
          <p:nvPr/>
        </p:nvSpPr>
        <p:spPr>
          <a:xfrm>
            <a:off x="9326880" y="2542032"/>
            <a:ext cx="365760" cy="365760"/>
          </a:xfrm>
          <a:prstGeom prst="rect">
            <a:avLst/>
          </a:prstGeom>
          <a:noFill/>
        </p:spPr>
        <p:txBody>
          <a:bodyPr wrap="square" lIns="0" rIns="0" tIns="0" bIns="0" anchor="t">
            <a:spAutoFit/>
          </a:bodyPr>
          <a:lstStyle/>
          <a:p>
            <a:pPr algn="ctr">
              <a:spcAft>
                <a:spcPts val="0"/>
              </a:spcAft>
            </a:pPr>
            <a:r>
              <a:rPr sz="2100" b="1" i="0">
                <a:solidFill>
                  <a:srgbClr val="9FE870"/>
                </a:solidFill>
                <a:latin typeface="Aptos"/>
              </a:rPr>
              <a:t>≠</a:t>
            </a:r>
          </a:p>
        </p:txBody>
      </p:sp>
      <p:sp>
        <p:nvSpPr>
          <p:cNvPr id="35" name="TextBox 34"/>
          <p:cNvSpPr txBox="1"/>
          <p:nvPr/>
        </p:nvSpPr>
        <p:spPr>
          <a:xfrm>
            <a:off x="9784080" y="2587752"/>
            <a:ext cx="1234440" cy="274320"/>
          </a:xfrm>
          <a:prstGeom prst="rect">
            <a:avLst/>
          </a:prstGeom>
          <a:noFill/>
        </p:spPr>
        <p:txBody>
          <a:bodyPr wrap="square" lIns="0" rIns="0" tIns="0" bIns="0" anchor="t">
            <a:spAutoFit/>
          </a:bodyPr>
          <a:lstStyle/>
          <a:p>
            <a:pPr algn="l">
              <a:spcAft>
                <a:spcPts val="0"/>
              </a:spcAft>
            </a:pPr>
            <a:r>
              <a:rPr sz="1500" b="1" i="0">
                <a:solidFill>
                  <a:srgbClr val="FFFFFF"/>
                </a:solidFill>
                <a:latin typeface="Aptos"/>
              </a:rPr>
              <a:t>Confirmed</a:t>
            </a:r>
          </a:p>
        </p:txBody>
      </p:sp>
      <p:sp>
        <p:nvSpPr>
          <p:cNvPr id="36" name="TextBox 35"/>
          <p:cNvSpPr txBox="1"/>
          <p:nvPr/>
        </p:nvSpPr>
        <p:spPr>
          <a:xfrm>
            <a:off x="8001000" y="3154680"/>
            <a:ext cx="2926080" cy="274320"/>
          </a:xfrm>
          <a:prstGeom prst="rect">
            <a:avLst/>
          </a:prstGeom>
          <a:noFill/>
        </p:spPr>
        <p:txBody>
          <a:bodyPr wrap="square" lIns="0" rIns="0" tIns="0" bIns="0" anchor="t">
            <a:spAutoFit/>
          </a:bodyPr>
          <a:lstStyle/>
          <a:p>
            <a:pPr algn="l">
              <a:spcAft>
                <a:spcPts val="0"/>
              </a:spcAft>
            </a:pPr>
            <a:r>
              <a:rPr sz="1000" b="0" i="0">
                <a:solidFill>
                  <a:srgbClr val="DDE8D8"/>
                </a:solidFill>
                <a:latin typeface="Aptos"/>
              </a:rPr>
              <a:t>Only after a fresh chain read</a:t>
            </a:r>
          </a:p>
        </p:txBody>
      </p:sp>
      <p:sp>
        <p:nvSpPr>
          <p:cNvPr id="37" name="Rounded Rectangle 36"/>
          <p:cNvSpPr/>
          <p:nvPr/>
        </p:nvSpPr>
        <p:spPr>
          <a:xfrm>
            <a:off x="7726679" y="3977639"/>
            <a:ext cx="3703320" cy="1051560"/>
          </a:xfrm>
          <a:prstGeom prst="roundRect">
            <a:avLst/>
          </a:prstGeom>
          <a:solidFill>
            <a:srgbClr val="FFF7E6"/>
          </a:solidFill>
          <a:ln w="12700">
            <a:solidFill>
              <a:srgbClr val="EAD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0" y="4187952"/>
            <a:ext cx="3108960" cy="228600"/>
          </a:xfrm>
          <a:prstGeom prst="rect">
            <a:avLst/>
          </a:prstGeom>
          <a:noFill/>
        </p:spPr>
        <p:txBody>
          <a:bodyPr wrap="square" lIns="0" rIns="0" tIns="0" bIns="0" anchor="t">
            <a:spAutoFit/>
          </a:bodyPr>
          <a:lstStyle/>
          <a:p>
            <a:pPr algn="l">
              <a:spcAft>
                <a:spcPts val="0"/>
              </a:spcAft>
            </a:pPr>
            <a:r>
              <a:rPr sz="1200" b="1" i="0">
                <a:solidFill>
                  <a:srgbClr val="111411"/>
                </a:solidFill>
                <a:latin typeface="Aptos"/>
              </a:rPr>
              <a:t>NOT AUDITED</a:t>
            </a:r>
          </a:p>
        </p:txBody>
      </p:sp>
      <p:sp>
        <p:nvSpPr>
          <p:cNvPr id="39" name="TextBox 38"/>
          <p:cNvSpPr txBox="1"/>
          <p:nvPr/>
        </p:nvSpPr>
        <p:spPr>
          <a:xfrm>
            <a:off x="8001000" y="4526280"/>
            <a:ext cx="3108960" cy="228600"/>
          </a:xfrm>
          <a:prstGeom prst="rect">
            <a:avLst/>
          </a:prstGeom>
          <a:noFill/>
        </p:spPr>
        <p:txBody>
          <a:bodyPr wrap="square" lIns="0" rIns="0" tIns="0" bIns="0" anchor="t">
            <a:spAutoFit/>
          </a:bodyPr>
          <a:lstStyle/>
          <a:p>
            <a:pPr algn="l">
              <a:spcAft>
                <a:spcPts val="0"/>
              </a:spcAft>
            </a:pPr>
            <a:r>
              <a:rPr sz="1100" b="0" i="0">
                <a:solidFill>
                  <a:srgbClr val="263126"/>
                </a:solidFill>
                <a:latin typeface="Aptos"/>
              </a:rPr>
              <a:t>Mainnet is disabled.</a:t>
            </a:r>
          </a:p>
        </p:txBody>
      </p:sp>
      <p:sp>
        <p:nvSpPr>
          <p:cNvPr id="40" name="Rounded Rectangle 39"/>
          <p:cNvSpPr/>
          <p:nvPr/>
        </p:nvSpPr>
        <p:spPr>
          <a:xfrm>
            <a:off x="7726679" y="5257800"/>
            <a:ext cx="3703320" cy="731520"/>
          </a:xfrm>
          <a:prstGeom prst="roundRect">
            <a:avLst/>
          </a:prstGeom>
          <a:solidFill>
            <a:srgbClr val="F1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55279" y="5422392"/>
            <a:ext cx="3291840" cy="384048"/>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Example: release 50.00 MUSD → seller receives 50.00 MUSD.</a:t>
            </a:r>
          </a:p>
        </p:txBody>
      </p:sp>
      <p:sp>
        <p:nvSpPr>
          <p:cNvPr id="42" name="Rectangle 41"/>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07  /  WHY MEZO</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MUSD pays the invoice. BTC pays the gas.</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Borrowing is the source of testnet MUSD—not the faucet.</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640080" y="1874519"/>
            <a:ext cx="3246120" cy="1417320"/>
          </a:xfrm>
          <a:prstGeom prst="roundRect">
            <a:avLst/>
          </a:prstGeom>
          <a:solidFill>
            <a:srgbClr val="163300"/>
          </a:solidFill>
          <a:ln w="12700">
            <a:solidFill>
              <a:srgbClr val="163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6384" y="2020824"/>
            <a:ext cx="384048" cy="384048"/>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029967"/>
            <a:ext cx="384048" cy="347472"/>
          </a:xfrm>
          <a:prstGeom prst="rect">
            <a:avLst/>
          </a:prstGeom>
          <a:noFill/>
        </p:spPr>
        <p:txBody>
          <a:bodyPr wrap="square" lIns="0" rIns="0" tIns="0" bIns="0" anchor="ctr">
            <a:spAutoFit/>
          </a:bodyPr>
          <a:lstStyle/>
          <a:p>
            <a:pPr algn="ctr">
              <a:spcAft>
                <a:spcPts val="0"/>
              </a:spcAft>
            </a:pPr>
            <a:r>
              <a:rPr sz="1500" b="1" i="0">
                <a:solidFill>
                  <a:srgbClr val="163300"/>
                </a:solidFill>
                <a:latin typeface="Aptos"/>
              </a:rPr>
              <a:t>$</a:t>
            </a:r>
          </a:p>
        </p:txBody>
      </p:sp>
      <p:sp>
        <p:nvSpPr>
          <p:cNvPr id="9" name="TextBox 8"/>
          <p:cNvSpPr txBox="1"/>
          <p:nvPr/>
        </p:nvSpPr>
        <p:spPr>
          <a:xfrm>
            <a:off x="1280160" y="2029967"/>
            <a:ext cx="2459736" cy="347472"/>
          </a:xfrm>
          <a:prstGeom prst="rect">
            <a:avLst/>
          </a:prstGeom>
          <a:noFill/>
        </p:spPr>
        <p:txBody>
          <a:bodyPr wrap="square" lIns="0" rIns="0" tIns="0" bIns="0" anchor="t">
            <a:spAutoFit/>
          </a:bodyPr>
          <a:lstStyle/>
          <a:p>
            <a:pPr algn="l">
              <a:spcAft>
                <a:spcPts val="0"/>
              </a:spcAft>
            </a:pPr>
            <a:r>
              <a:rPr sz="1600" b="1" i="0">
                <a:solidFill>
                  <a:srgbClr val="163300"/>
                </a:solidFill>
                <a:latin typeface="Aptos"/>
              </a:rPr>
              <a:t>MUSD</a:t>
            </a:r>
          </a:p>
        </p:txBody>
      </p:sp>
      <p:sp>
        <p:nvSpPr>
          <p:cNvPr id="10" name="TextBox 9"/>
          <p:cNvSpPr txBox="1"/>
          <p:nvPr/>
        </p:nvSpPr>
        <p:spPr>
          <a:xfrm>
            <a:off x="822959" y="2487168"/>
            <a:ext cx="2880360" cy="685800"/>
          </a:xfrm>
          <a:prstGeom prst="rect">
            <a:avLst/>
          </a:prstGeom>
          <a:noFill/>
        </p:spPr>
        <p:txBody>
          <a:bodyPr wrap="square" lIns="0" rIns="0" tIns="0" bIns="0" anchor="t">
            <a:spAutoFit/>
          </a:bodyPr>
          <a:lstStyle/>
          <a:p>
            <a:pPr algn="l">
              <a:spcAft>
                <a:spcPts val="0"/>
              </a:spcAft>
            </a:pPr>
            <a:r>
              <a:rPr sz="1200" b="0" i="0">
                <a:solidFill>
                  <a:srgbClr val="263126"/>
                </a:solidFill>
                <a:latin typeface="Aptos"/>
              </a:rPr>
              <a:t>Only asset accepted by the escrow.</a:t>
            </a:r>
          </a:p>
        </p:txBody>
      </p:sp>
      <p:sp>
        <p:nvSpPr>
          <p:cNvPr id="11" name="TextBox 10"/>
          <p:cNvSpPr txBox="1"/>
          <p:nvPr/>
        </p:nvSpPr>
        <p:spPr>
          <a:xfrm>
            <a:off x="1280160" y="2057400"/>
            <a:ext cx="2286000" cy="274320"/>
          </a:xfrm>
          <a:prstGeom prst="rect">
            <a:avLst/>
          </a:prstGeom>
          <a:noFill/>
        </p:spPr>
        <p:txBody>
          <a:bodyPr wrap="square" lIns="0" rIns="0" tIns="0" bIns="0" anchor="t">
            <a:spAutoFit/>
          </a:bodyPr>
          <a:lstStyle/>
          <a:p>
            <a:pPr algn="l">
              <a:spcAft>
                <a:spcPts val="0"/>
              </a:spcAft>
            </a:pPr>
            <a:r>
              <a:rPr sz="1600" b="1" i="0">
                <a:solidFill>
                  <a:srgbClr val="FFFFFF"/>
                </a:solidFill>
                <a:latin typeface="Aptos"/>
              </a:rPr>
              <a:t>MUSD</a:t>
            </a:r>
          </a:p>
        </p:txBody>
      </p:sp>
      <p:sp>
        <p:nvSpPr>
          <p:cNvPr id="12" name="TextBox 11"/>
          <p:cNvSpPr txBox="1"/>
          <p:nvPr/>
        </p:nvSpPr>
        <p:spPr>
          <a:xfrm>
            <a:off x="822960" y="2578608"/>
            <a:ext cx="2834640" cy="457200"/>
          </a:xfrm>
          <a:prstGeom prst="rect">
            <a:avLst/>
          </a:prstGeom>
          <a:noFill/>
        </p:spPr>
        <p:txBody>
          <a:bodyPr wrap="square" lIns="0" rIns="0" tIns="0" bIns="0" anchor="t">
            <a:spAutoFit/>
          </a:bodyPr>
          <a:lstStyle/>
          <a:p>
            <a:pPr algn="l">
              <a:spcAft>
                <a:spcPts val="0"/>
              </a:spcAft>
            </a:pPr>
            <a:r>
              <a:rPr sz="1100" b="0" i="0">
                <a:solidFill>
                  <a:srgbClr val="FFFFFF"/>
                </a:solidFill>
                <a:latin typeface="Aptos"/>
              </a:rPr>
              <a:t>Only asset accepted by the escrow.</a:t>
            </a:r>
          </a:p>
        </p:txBody>
      </p:sp>
      <p:sp>
        <p:nvSpPr>
          <p:cNvPr id="13" name="Rounded Rectangle 12"/>
          <p:cNvSpPr/>
          <p:nvPr/>
        </p:nvSpPr>
        <p:spPr>
          <a:xfrm>
            <a:off x="4480560" y="1874519"/>
            <a:ext cx="3246120" cy="141732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26864" y="2020824"/>
            <a:ext cx="384048" cy="384048"/>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2029967"/>
            <a:ext cx="384048" cy="347472"/>
          </a:xfrm>
          <a:prstGeom prst="rect">
            <a:avLst/>
          </a:prstGeom>
          <a:noFill/>
        </p:spPr>
        <p:txBody>
          <a:bodyPr wrap="square" lIns="0" rIns="0" tIns="0" bIns="0" anchor="ctr">
            <a:spAutoFit/>
          </a:bodyPr>
          <a:lstStyle/>
          <a:p>
            <a:pPr algn="ctr">
              <a:spcAft>
                <a:spcPts val="0"/>
              </a:spcAft>
            </a:pPr>
            <a:r>
              <a:rPr sz="1500" b="1" i="0">
                <a:solidFill>
                  <a:srgbClr val="163300"/>
                </a:solidFill>
                <a:latin typeface="Aptos"/>
              </a:rPr>
              <a:t>₿</a:t>
            </a:r>
          </a:p>
        </p:txBody>
      </p:sp>
      <p:sp>
        <p:nvSpPr>
          <p:cNvPr id="16" name="TextBox 15"/>
          <p:cNvSpPr txBox="1"/>
          <p:nvPr/>
        </p:nvSpPr>
        <p:spPr>
          <a:xfrm>
            <a:off x="5120640" y="2029967"/>
            <a:ext cx="2459736" cy="347472"/>
          </a:xfrm>
          <a:prstGeom prst="rect">
            <a:avLst/>
          </a:prstGeom>
          <a:noFill/>
        </p:spPr>
        <p:txBody>
          <a:bodyPr wrap="square" lIns="0" rIns="0" tIns="0" bIns="0" anchor="t">
            <a:spAutoFit/>
          </a:bodyPr>
          <a:lstStyle/>
          <a:p>
            <a:pPr algn="l">
              <a:spcAft>
                <a:spcPts val="0"/>
              </a:spcAft>
            </a:pPr>
            <a:r>
              <a:rPr sz="1600" b="1" i="0">
                <a:solidFill>
                  <a:srgbClr val="163300"/>
                </a:solidFill>
                <a:latin typeface="Aptos"/>
              </a:rPr>
              <a:t>BTC</a:t>
            </a:r>
          </a:p>
        </p:txBody>
      </p:sp>
      <p:sp>
        <p:nvSpPr>
          <p:cNvPr id="17" name="TextBox 16"/>
          <p:cNvSpPr txBox="1"/>
          <p:nvPr/>
        </p:nvSpPr>
        <p:spPr>
          <a:xfrm>
            <a:off x="4663440" y="2487168"/>
            <a:ext cx="2880360" cy="685800"/>
          </a:xfrm>
          <a:prstGeom prst="rect">
            <a:avLst/>
          </a:prstGeom>
          <a:noFill/>
        </p:spPr>
        <p:txBody>
          <a:bodyPr wrap="square" lIns="0" rIns="0" tIns="0" bIns="0" anchor="t">
            <a:spAutoFit/>
          </a:bodyPr>
          <a:lstStyle/>
          <a:p>
            <a:pPr algn="l">
              <a:spcAft>
                <a:spcPts val="0"/>
              </a:spcAft>
            </a:pPr>
            <a:r>
              <a:rPr sz="1200" b="0" i="0">
                <a:solidFill>
                  <a:srgbClr val="263126"/>
                </a:solidFill>
                <a:latin typeface="Aptos"/>
              </a:rPr>
              <a:t>Network gas, shown by the wallet.</a:t>
            </a:r>
          </a:p>
        </p:txBody>
      </p:sp>
      <p:sp>
        <p:nvSpPr>
          <p:cNvPr id="18" name="Rounded Rectangle 17"/>
          <p:cNvSpPr/>
          <p:nvPr/>
        </p:nvSpPr>
        <p:spPr>
          <a:xfrm>
            <a:off x="8321040" y="1874519"/>
            <a:ext cx="3246120" cy="141732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67344" y="2020824"/>
            <a:ext cx="384048" cy="384048"/>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7344" y="2029967"/>
            <a:ext cx="384048" cy="347472"/>
          </a:xfrm>
          <a:prstGeom prst="rect">
            <a:avLst/>
          </a:prstGeom>
          <a:noFill/>
        </p:spPr>
        <p:txBody>
          <a:bodyPr wrap="square" lIns="0" rIns="0" tIns="0" bIns="0" anchor="ctr">
            <a:spAutoFit/>
          </a:bodyPr>
          <a:lstStyle/>
          <a:p>
            <a:pPr algn="ctr">
              <a:spcAft>
                <a:spcPts val="0"/>
              </a:spcAft>
            </a:pPr>
            <a:r>
              <a:rPr sz="1500" b="1" i="0">
                <a:solidFill>
                  <a:srgbClr val="163300"/>
                </a:solidFill>
                <a:latin typeface="Aptos"/>
              </a:rPr>
              <a:t>↗</a:t>
            </a:r>
          </a:p>
        </p:txBody>
      </p:sp>
      <p:sp>
        <p:nvSpPr>
          <p:cNvPr id="21" name="TextBox 20"/>
          <p:cNvSpPr txBox="1"/>
          <p:nvPr/>
        </p:nvSpPr>
        <p:spPr>
          <a:xfrm>
            <a:off x="8961119" y="2029967"/>
            <a:ext cx="2459736" cy="347472"/>
          </a:xfrm>
          <a:prstGeom prst="rect">
            <a:avLst/>
          </a:prstGeom>
          <a:noFill/>
        </p:spPr>
        <p:txBody>
          <a:bodyPr wrap="square" lIns="0" rIns="0" tIns="0" bIns="0" anchor="t">
            <a:spAutoFit/>
          </a:bodyPr>
          <a:lstStyle/>
          <a:p>
            <a:pPr algn="l">
              <a:spcAft>
                <a:spcPts val="0"/>
              </a:spcAft>
            </a:pPr>
            <a:r>
              <a:rPr sz="1600" b="1" i="0">
                <a:solidFill>
                  <a:srgbClr val="163300"/>
                </a:solidFill>
                <a:latin typeface="Aptos"/>
              </a:rPr>
              <a:t>BORROW</a:t>
            </a:r>
          </a:p>
        </p:txBody>
      </p:sp>
      <p:sp>
        <p:nvSpPr>
          <p:cNvPr id="22" name="TextBox 21"/>
          <p:cNvSpPr txBox="1"/>
          <p:nvPr/>
        </p:nvSpPr>
        <p:spPr>
          <a:xfrm>
            <a:off x="8503919" y="2487168"/>
            <a:ext cx="2880360" cy="685800"/>
          </a:xfrm>
          <a:prstGeom prst="rect">
            <a:avLst/>
          </a:prstGeom>
          <a:noFill/>
        </p:spPr>
        <p:txBody>
          <a:bodyPr wrap="square" lIns="0" rIns="0" tIns="0" bIns="0" anchor="t">
            <a:spAutoFit/>
          </a:bodyPr>
          <a:lstStyle/>
          <a:p>
            <a:pPr algn="l">
              <a:spcAft>
                <a:spcPts val="0"/>
              </a:spcAft>
            </a:pPr>
            <a:r>
              <a:rPr sz="1150" b="0" i="0">
                <a:solidFill>
                  <a:srgbClr val="263126"/>
                </a:solidFill>
                <a:latin typeface="Aptos"/>
              </a:rPr>
              <a:t>Testnet MUSD borrowed against testnet BTC.</a:t>
            </a:r>
          </a:p>
        </p:txBody>
      </p:sp>
      <p:sp>
        <p:nvSpPr>
          <p:cNvPr id="23" name="Rounded Rectangle 22"/>
          <p:cNvSpPr/>
          <p:nvPr/>
        </p:nvSpPr>
        <p:spPr>
          <a:xfrm>
            <a:off x="1005840" y="4069080"/>
            <a:ext cx="2423160" cy="1005840"/>
          </a:xfrm>
          <a:prstGeom prst="roundRect">
            <a:avLst/>
          </a:prstGeom>
          <a:solidFill>
            <a:srgbClr val="F1F7ED"/>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251960"/>
            <a:ext cx="2148840" cy="228600"/>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BORROW</a:t>
            </a:r>
          </a:p>
        </p:txBody>
      </p:sp>
      <p:sp>
        <p:nvSpPr>
          <p:cNvPr id="25" name="TextBox 24"/>
          <p:cNvSpPr txBox="1"/>
          <p:nvPr/>
        </p:nvSpPr>
        <p:spPr>
          <a:xfrm>
            <a:off x="1143000" y="4599432"/>
            <a:ext cx="2148840" cy="274320"/>
          </a:xfrm>
          <a:prstGeom prst="rect">
            <a:avLst/>
          </a:prstGeom>
          <a:noFill/>
        </p:spPr>
        <p:txBody>
          <a:bodyPr wrap="square" lIns="0" rIns="0" tIns="0" bIns="0" anchor="t">
            <a:spAutoFit/>
          </a:bodyPr>
          <a:lstStyle/>
          <a:p>
            <a:pPr algn="ctr">
              <a:spcAft>
                <a:spcPts val="0"/>
              </a:spcAft>
            </a:pPr>
            <a:r>
              <a:rPr sz="1000" b="0" i="0">
                <a:solidFill>
                  <a:srgbClr val="263126"/>
                </a:solidFill>
                <a:latin typeface="Aptos"/>
              </a:rPr>
              <a:t>MUSD against BTC</a:t>
            </a:r>
          </a:p>
        </p:txBody>
      </p:sp>
      <p:cxnSp>
        <p:nvCxnSpPr>
          <p:cNvPr id="26" name="Connector 25"/>
          <p:cNvCxnSpPr/>
          <p:nvPr/>
        </p:nvCxnSpPr>
        <p:spPr>
          <a:xfrm>
            <a:off x="3493008" y="4572000"/>
            <a:ext cx="969264" cy="0"/>
          </a:xfrm>
          <a:prstGeom prst="line">
            <a:avLst/>
          </a:prstGeom>
          <a:ln w="25400">
            <a:solidFill>
              <a:srgbClr val="9FE87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72000" y="4069080"/>
            <a:ext cx="2423160" cy="1005840"/>
          </a:xfrm>
          <a:prstGeom prst="roundRect">
            <a:avLst/>
          </a:prstGeom>
          <a:solidFill>
            <a:srgbClr val="F1F7ED"/>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4251960"/>
            <a:ext cx="2148840" cy="228600"/>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FUND</a:t>
            </a:r>
          </a:p>
        </p:txBody>
      </p:sp>
      <p:sp>
        <p:nvSpPr>
          <p:cNvPr id="29" name="TextBox 28"/>
          <p:cNvSpPr txBox="1"/>
          <p:nvPr/>
        </p:nvSpPr>
        <p:spPr>
          <a:xfrm>
            <a:off x="4709160" y="4599432"/>
            <a:ext cx="2148840" cy="274320"/>
          </a:xfrm>
          <a:prstGeom prst="rect">
            <a:avLst/>
          </a:prstGeom>
          <a:noFill/>
        </p:spPr>
        <p:txBody>
          <a:bodyPr wrap="square" lIns="0" rIns="0" tIns="0" bIns="0" anchor="t">
            <a:spAutoFit/>
          </a:bodyPr>
          <a:lstStyle/>
          <a:p>
            <a:pPr algn="ctr">
              <a:spcAft>
                <a:spcPts val="0"/>
              </a:spcAft>
            </a:pPr>
            <a:r>
              <a:rPr sz="1000" b="0" i="0">
                <a:solidFill>
                  <a:srgbClr val="263126"/>
                </a:solidFill>
                <a:latin typeface="Aptos"/>
              </a:rPr>
              <a:t>Exact invoice amount</a:t>
            </a:r>
          </a:p>
        </p:txBody>
      </p:sp>
      <p:cxnSp>
        <p:nvCxnSpPr>
          <p:cNvPr id="30" name="Connector 29"/>
          <p:cNvCxnSpPr/>
          <p:nvPr/>
        </p:nvCxnSpPr>
        <p:spPr>
          <a:xfrm>
            <a:off x="7059168" y="4572000"/>
            <a:ext cx="969264" cy="0"/>
          </a:xfrm>
          <a:prstGeom prst="line">
            <a:avLst/>
          </a:prstGeom>
          <a:ln w="25400">
            <a:solidFill>
              <a:srgbClr val="9FE87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38160" y="4069080"/>
            <a:ext cx="2423160" cy="1005840"/>
          </a:xfrm>
          <a:prstGeom prst="roundRect">
            <a:avLst/>
          </a:prstGeom>
          <a:solidFill>
            <a:srgbClr val="F1F7ED"/>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4251960"/>
            <a:ext cx="2148840" cy="228600"/>
          </a:xfrm>
          <a:prstGeom prst="rect">
            <a:avLst/>
          </a:prstGeom>
          <a:noFill/>
        </p:spPr>
        <p:txBody>
          <a:bodyPr wrap="square" lIns="0" rIns="0" tIns="0" bIns="0" anchor="t">
            <a:spAutoFit/>
          </a:bodyPr>
          <a:lstStyle/>
          <a:p>
            <a:pPr algn="ctr">
              <a:spcAft>
                <a:spcPts val="0"/>
              </a:spcAft>
            </a:pPr>
            <a:r>
              <a:rPr sz="1400" b="1" i="0">
                <a:solidFill>
                  <a:srgbClr val="163300"/>
                </a:solidFill>
                <a:latin typeface="Aptos"/>
              </a:rPr>
              <a:t>SETTLE</a:t>
            </a:r>
          </a:p>
        </p:txBody>
      </p:sp>
      <p:sp>
        <p:nvSpPr>
          <p:cNvPr id="33" name="TextBox 32"/>
          <p:cNvSpPr txBox="1"/>
          <p:nvPr/>
        </p:nvSpPr>
        <p:spPr>
          <a:xfrm>
            <a:off x="8275320" y="4599432"/>
            <a:ext cx="2148840" cy="274320"/>
          </a:xfrm>
          <a:prstGeom prst="rect">
            <a:avLst/>
          </a:prstGeom>
          <a:noFill/>
        </p:spPr>
        <p:txBody>
          <a:bodyPr wrap="square" lIns="0" rIns="0" tIns="0" bIns="0" anchor="t">
            <a:spAutoFit/>
          </a:bodyPr>
          <a:lstStyle/>
          <a:p>
            <a:pPr algn="ctr">
              <a:spcAft>
                <a:spcPts val="0"/>
              </a:spcAft>
            </a:pPr>
            <a:r>
              <a:rPr sz="1000" b="0" i="0">
                <a:solidFill>
                  <a:srgbClr val="263126"/>
                </a:solidFill>
                <a:latin typeface="Aptos"/>
              </a:rPr>
              <a:t>By agreement rule</a:t>
            </a:r>
          </a:p>
        </p:txBody>
      </p:sp>
      <p:sp>
        <p:nvSpPr>
          <p:cNvPr id="34" name="Rounded Rectangle 33"/>
          <p:cNvSpPr/>
          <p:nvPr/>
        </p:nvSpPr>
        <p:spPr>
          <a:xfrm>
            <a:off x="914400" y="5532120"/>
            <a:ext cx="10287000" cy="566928"/>
          </a:xfrm>
          <a:prstGeom prst="round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687568"/>
            <a:ext cx="9921240" cy="246888"/>
          </a:xfrm>
          <a:prstGeom prst="rect">
            <a:avLst/>
          </a:prstGeom>
          <a:noFill/>
        </p:spPr>
        <p:txBody>
          <a:bodyPr wrap="square" lIns="0" rIns="0" tIns="0" bIns="0" anchor="t">
            <a:spAutoFit/>
          </a:bodyPr>
          <a:lstStyle/>
          <a:p>
            <a:pPr algn="ctr">
              <a:spcAft>
                <a:spcPts val="0"/>
              </a:spcAft>
            </a:pPr>
            <a:r>
              <a:rPr sz="1400" b="1" i="0">
                <a:solidFill>
                  <a:srgbClr val="FFFFFF"/>
                </a:solidFill>
                <a:latin typeface="Aptos"/>
              </a:rPr>
              <a:t>Instant transfer when the deal is done. RELAY when the deal has a deadline.</a:t>
            </a:r>
          </a:p>
        </p:txBody>
      </p:sp>
      <p:sp>
        <p:nvSpPr>
          <p:cNvPr id="36" name="Rectangle 35"/>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08  /  USERS &amp; PERMISSIONS</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Three callers, three different permissions.</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The resolver is a separate address and acts only after a dispute.</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640080" y="1874519"/>
            <a:ext cx="3429000" cy="324612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247" y="2084831"/>
            <a:ext cx="548640" cy="548640"/>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21408"/>
            <a:ext cx="548640" cy="438912"/>
          </a:xfrm>
          <a:prstGeom prst="rect">
            <a:avLst/>
          </a:prstGeom>
          <a:noFill/>
        </p:spPr>
        <p:txBody>
          <a:bodyPr wrap="square" lIns="0" rIns="0" tIns="0" bIns="0" anchor="ctr">
            <a:spAutoFit/>
          </a:bodyPr>
          <a:lstStyle/>
          <a:p>
            <a:pPr algn="ctr">
              <a:spcAft>
                <a:spcPts val="0"/>
              </a:spcAft>
            </a:pPr>
            <a:r>
              <a:rPr sz="1900" b="1" i="0">
                <a:solidFill>
                  <a:srgbClr val="FFFFFF"/>
                </a:solidFill>
                <a:latin typeface="Aptos"/>
              </a:rPr>
              <a:t>S</a:t>
            </a:r>
          </a:p>
        </p:txBody>
      </p:sp>
      <p:sp>
        <p:nvSpPr>
          <p:cNvPr id="9" name="TextBox 8"/>
          <p:cNvSpPr txBox="1"/>
          <p:nvPr/>
        </p:nvSpPr>
        <p:spPr>
          <a:xfrm>
            <a:off x="1508760" y="2176272"/>
            <a:ext cx="2194560" cy="274320"/>
          </a:xfrm>
          <a:prstGeom prst="rect">
            <a:avLst/>
          </a:prstGeom>
          <a:noFill/>
        </p:spPr>
        <p:txBody>
          <a:bodyPr wrap="square" lIns="0" rIns="0" tIns="0" bIns="0" anchor="t">
            <a:spAutoFit/>
          </a:bodyPr>
          <a:lstStyle/>
          <a:p>
            <a:pPr algn="l">
              <a:spcAft>
                <a:spcPts val="0"/>
              </a:spcAft>
            </a:pPr>
            <a:r>
              <a:rPr sz="1500" b="1" i="0">
                <a:solidFill>
                  <a:srgbClr val="163300"/>
                </a:solidFill>
                <a:latin typeface="Aptos"/>
              </a:rPr>
              <a:t>SELLER</a:t>
            </a:r>
          </a:p>
        </p:txBody>
      </p:sp>
      <p:sp>
        <p:nvSpPr>
          <p:cNvPr id="10" name="TextBox 9"/>
          <p:cNvSpPr txBox="1"/>
          <p:nvPr/>
        </p:nvSpPr>
        <p:spPr>
          <a:xfrm>
            <a:off x="859536" y="2834640"/>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11" name="TextBox 10"/>
          <p:cNvSpPr txBox="1"/>
          <p:nvPr/>
        </p:nvSpPr>
        <p:spPr>
          <a:xfrm>
            <a:off x="1078992" y="2834640"/>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Creates terms and shares checkout.</a:t>
            </a:r>
          </a:p>
        </p:txBody>
      </p:sp>
      <p:sp>
        <p:nvSpPr>
          <p:cNvPr id="12" name="TextBox 11"/>
          <p:cNvSpPr txBox="1"/>
          <p:nvPr/>
        </p:nvSpPr>
        <p:spPr>
          <a:xfrm>
            <a:off x="859536" y="3310128"/>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13" name="TextBox 12"/>
          <p:cNvSpPr txBox="1"/>
          <p:nvPr/>
        </p:nvSpPr>
        <p:spPr>
          <a:xfrm>
            <a:off x="1078992" y="3310128"/>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Submits delivery.</a:t>
            </a:r>
          </a:p>
        </p:txBody>
      </p:sp>
      <p:sp>
        <p:nvSpPr>
          <p:cNvPr id="14" name="TextBox 13"/>
          <p:cNvSpPr txBox="1"/>
          <p:nvPr/>
        </p:nvSpPr>
        <p:spPr>
          <a:xfrm>
            <a:off x="859536" y="3785616"/>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15" name="TextBox 14"/>
          <p:cNvSpPr txBox="1"/>
          <p:nvPr/>
        </p:nvSpPr>
        <p:spPr>
          <a:xfrm>
            <a:off x="1078992" y="3785616"/>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Paid only when a rule permits.</a:t>
            </a:r>
          </a:p>
        </p:txBody>
      </p:sp>
      <p:sp>
        <p:nvSpPr>
          <p:cNvPr id="16" name="TextBox 15"/>
          <p:cNvSpPr txBox="1"/>
          <p:nvPr/>
        </p:nvSpPr>
        <p:spPr>
          <a:xfrm>
            <a:off x="859536" y="4261104"/>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17" name="TextBox 16"/>
          <p:cNvSpPr txBox="1"/>
          <p:nvPr/>
        </p:nvSpPr>
        <p:spPr>
          <a:xfrm>
            <a:off x="1078992" y="4261104"/>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Cannot withdraw early.</a:t>
            </a:r>
          </a:p>
        </p:txBody>
      </p:sp>
      <p:sp>
        <p:nvSpPr>
          <p:cNvPr id="18" name="Rounded Rectangle 17"/>
          <p:cNvSpPr/>
          <p:nvPr/>
        </p:nvSpPr>
        <p:spPr>
          <a:xfrm>
            <a:off x="4480560" y="1874519"/>
            <a:ext cx="3429000" cy="3246120"/>
          </a:xfrm>
          <a:prstGeom prst="roundRect">
            <a:avLst/>
          </a:prstGeom>
          <a:solidFill>
            <a:srgbClr val="F1F7ED"/>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681728" y="2084831"/>
            <a:ext cx="548640" cy="548640"/>
          </a:xfrm>
          <a:prstGeom prst="ellipse">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1728" y="2121408"/>
            <a:ext cx="548640" cy="438912"/>
          </a:xfrm>
          <a:prstGeom prst="rect">
            <a:avLst/>
          </a:prstGeom>
          <a:noFill/>
        </p:spPr>
        <p:txBody>
          <a:bodyPr wrap="square" lIns="0" rIns="0" tIns="0" bIns="0" anchor="ctr">
            <a:spAutoFit/>
          </a:bodyPr>
          <a:lstStyle/>
          <a:p>
            <a:pPr algn="ctr">
              <a:spcAft>
                <a:spcPts val="0"/>
              </a:spcAft>
            </a:pPr>
            <a:r>
              <a:rPr sz="1900" b="1" i="0">
                <a:solidFill>
                  <a:srgbClr val="FFFFFF"/>
                </a:solidFill>
                <a:latin typeface="Aptos"/>
              </a:rPr>
              <a:t>B</a:t>
            </a:r>
          </a:p>
        </p:txBody>
      </p:sp>
      <p:sp>
        <p:nvSpPr>
          <p:cNvPr id="21" name="TextBox 20"/>
          <p:cNvSpPr txBox="1"/>
          <p:nvPr/>
        </p:nvSpPr>
        <p:spPr>
          <a:xfrm>
            <a:off x="5349240" y="2176272"/>
            <a:ext cx="2194560" cy="274320"/>
          </a:xfrm>
          <a:prstGeom prst="rect">
            <a:avLst/>
          </a:prstGeom>
          <a:noFill/>
        </p:spPr>
        <p:txBody>
          <a:bodyPr wrap="square" lIns="0" rIns="0" tIns="0" bIns="0" anchor="t">
            <a:spAutoFit/>
          </a:bodyPr>
          <a:lstStyle/>
          <a:p>
            <a:pPr algn="l">
              <a:spcAft>
                <a:spcPts val="0"/>
              </a:spcAft>
            </a:pPr>
            <a:r>
              <a:rPr sz="1500" b="1" i="0">
                <a:solidFill>
                  <a:srgbClr val="163300"/>
                </a:solidFill>
                <a:latin typeface="Aptos"/>
              </a:rPr>
              <a:t>BUYER</a:t>
            </a:r>
          </a:p>
        </p:txBody>
      </p:sp>
      <p:sp>
        <p:nvSpPr>
          <p:cNvPr id="22" name="TextBox 21"/>
          <p:cNvSpPr txBox="1"/>
          <p:nvPr/>
        </p:nvSpPr>
        <p:spPr>
          <a:xfrm>
            <a:off x="4700016" y="2834640"/>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23" name="TextBox 22"/>
          <p:cNvSpPr txBox="1"/>
          <p:nvPr/>
        </p:nvSpPr>
        <p:spPr>
          <a:xfrm>
            <a:off x="4919472" y="2834640"/>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Reads terms before connecting.</a:t>
            </a:r>
          </a:p>
        </p:txBody>
      </p:sp>
      <p:sp>
        <p:nvSpPr>
          <p:cNvPr id="24" name="TextBox 23"/>
          <p:cNvSpPr txBox="1"/>
          <p:nvPr/>
        </p:nvSpPr>
        <p:spPr>
          <a:xfrm>
            <a:off x="4700016" y="3310128"/>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25" name="TextBox 24"/>
          <p:cNvSpPr txBox="1"/>
          <p:nvPr/>
        </p:nvSpPr>
        <p:spPr>
          <a:xfrm>
            <a:off x="4919472" y="3310128"/>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Approves MUSD and funds exact amount.</a:t>
            </a:r>
          </a:p>
        </p:txBody>
      </p:sp>
      <p:sp>
        <p:nvSpPr>
          <p:cNvPr id="26" name="TextBox 25"/>
          <p:cNvSpPr txBox="1"/>
          <p:nvPr/>
        </p:nvSpPr>
        <p:spPr>
          <a:xfrm>
            <a:off x="4700016" y="3785616"/>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27" name="TextBox 26"/>
          <p:cNvSpPr txBox="1"/>
          <p:nvPr/>
        </p:nvSpPr>
        <p:spPr>
          <a:xfrm>
            <a:off x="4919472" y="3785616"/>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Releases, refunds missed delivery, or disputes.</a:t>
            </a:r>
          </a:p>
        </p:txBody>
      </p:sp>
      <p:sp>
        <p:nvSpPr>
          <p:cNvPr id="28" name="TextBox 27"/>
          <p:cNvSpPr txBox="1"/>
          <p:nvPr/>
        </p:nvSpPr>
        <p:spPr>
          <a:xfrm>
            <a:off x="4700016" y="4261104"/>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29" name="TextBox 28"/>
          <p:cNvSpPr txBox="1"/>
          <p:nvPr/>
        </p:nvSpPr>
        <p:spPr>
          <a:xfrm>
            <a:off x="4919472" y="4261104"/>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Open-link funder becomes buyer.</a:t>
            </a:r>
          </a:p>
        </p:txBody>
      </p:sp>
      <p:sp>
        <p:nvSpPr>
          <p:cNvPr id="30" name="Rounded Rectangle 29"/>
          <p:cNvSpPr/>
          <p:nvPr/>
        </p:nvSpPr>
        <p:spPr>
          <a:xfrm>
            <a:off x="8321040" y="1874519"/>
            <a:ext cx="3429000" cy="3246120"/>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22208" y="2084831"/>
            <a:ext cx="548640" cy="54864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2208" y="2121408"/>
            <a:ext cx="548640" cy="438912"/>
          </a:xfrm>
          <a:prstGeom prst="rect">
            <a:avLst/>
          </a:prstGeom>
          <a:noFill/>
        </p:spPr>
        <p:txBody>
          <a:bodyPr wrap="square" lIns="0" rIns="0" tIns="0" bIns="0" anchor="ctr">
            <a:spAutoFit/>
          </a:bodyPr>
          <a:lstStyle/>
          <a:p>
            <a:pPr algn="ctr">
              <a:spcAft>
                <a:spcPts val="0"/>
              </a:spcAft>
            </a:pPr>
            <a:r>
              <a:rPr sz="1900" b="1" i="0">
                <a:solidFill>
                  <a:srgbClr val="163300"/>
                </a:solidFill>
                <a:latin typeface="Aptos"/>
              </a:rPr>
              <a:t>A</a:t>
            </a:r>
          </a:p>
        </p:txBody>
      </p:sp>
      <p:sp>
        <p:nvSpPr>
          <p:cNvPr id="33" name="TextBox 32"/>
          <p:cNvSpPr txBox="1"/>
          <p:nvPr/>
        </p:nvSpPr>
        <p:spPr>
          <a:xfrm>
            <a:off x="9189719" y="2176272"/>
            <a:ext cx="2194560" cy="274320"/>
          </a:xfrm>
          <a:prstGeom prst="rect">
            <a:avLst/>
          </a:prstGeom>
          <a:noFill/>
        </p:spPr>
        <p:txBody>
          <a:bodyPr wrap="square" lIns="0" rIns="0" tIns="0" bIns="0" anchor="t">
            <a:spAutoFit/>
          </a:bodyPr>
          <a:lstStyle/>
          <a:p>
            <a:pPr algn="l">
              <a:spcAft>
                <a:spcPts val="0"/>
              </a:spcAft>
            </a:pPr>
            <a:r>
              <a:rPr sz="1500" b="1" i="0">
                <a:solidFill>
                  <a:srgbClr val="163300"/>
                </a:solidFill>
                <a:latin typeface="Aptos"/>
              </a:rPr>
              <a:t>AGENT</a:t>
            </a:r>
          </a:p>
        </p:txBody>
      </p:sp>
      <p:sp>
        <p:nvSpPr>
          <p:cNvPr id="34" name="TextBox 33"/>
          <p:cNvSpPr txBox="1"/>
          <p:nvPr/>
        </p:nvSpPr>
        <p:spPr>
          <a:xfrm>
            <a:off x="8540496" y="2834640"/>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35" name="TextBox 34"/>
          <p:cNvSpPr txBox="1"/>
          <p:nvPr/>
        </p:nvSpPr>
        <p:spPr>
          <a:xfrm>
            <a:off x="8759952" y="2834640"/>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Funds agreements already naming buyer.</a:t>
            </a:r>
          </a:p>
        </p:txBody>
      </p:sp>
      <p:sp>
        <p:nvSpPr>
          <p:cNvPr id="36" name="TextBox 35"/>
          <p:cNvSpPr txBox="1"/>
          <p:nvPr/>
        </p:nvSpPr>
        <p:spPr>
          <a:xfrm>
            <a:off x="8540496" y="3310128"/>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37" name="TextBox 36"/>
          <p:cNvSpPr txBox="1"/>
          <p:nvPr/>
        </p:nvSpPr>
        <p:spPr>
          <a:xfrm>
            <a:off x="8759952" y="3310128"/>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Uses buyer's existing MUSD approval.</a:t>
            </a:r>
          </a:p>
        </p:txBody>
      </p:sp>
      <p:sp>
        <p:nvSpPr>
          <p:cNvPr id="38" name="TextBox 37"/>
          <p:cNvSpPr txBox="1"/>
          <p:nvPr/>
        </p:nvSpPr>
        <p:spPr>
          <a:xfrm>
            <a:off x="8540496" y="3785616"/>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39" name="TextBox 38"/>
          <p:cNvSpPr txBox="1"/>
          <p:nvPr/>
        </p:nvSpPr>
        <p:spPr>
          <a:xfrm>
            <a:off x="8759952" y="3785616"/>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Spends within remaining cap.</a:t>
            </a:r>
          </a:p>
        </p:txBody>
      </p:sp>
      <p:sp>
        <p:nvSpPr>
          <p:cNvPr id="40" name="TextBox 39"/>
          <p:cNvSpPr txBox="1"/>
          <p:nvPr/>
        </p:nvSpPr>
        <p:spPr>
          <a:xfrm>
            <a:off x="8540496" y="4261104"/>
            <a:ext cx="164592" cy="228600"/>
          </a:xfrm>
          <a:prstGeom prst="rect">
            <a:avLst/>
          </a:prstGeom>
          <a:noFill/>
        </p:spPr>
        <p:txBody>
          <a:bodyPr wrap="square" lIns="0" rIns="0" tIns="0" bIns="0" anchor="t">
            <a:spAutoFit/>
          </a:bodyPr>
          <a:lstStyle/>
          <a:p>
            <a:pPr algn="l">
              <a:spcAft>
                <a:spcPts val="0"/>
              </a:spcAft>
            </a:pPr>
            <a:r>
              <a:rPr sz="1300" b="1" i="0">
                <a:solidFill>
                  <a:srgbClr val="163300"/>
                </a:solidFill>
                <a:latin typeface="Aptos"/>
              </a:rPr>
              <a:t>•</a:t>
            </a:r>
          </a:p>
        </p:txBody>
      </p:sp>
      <p:sp>
        <p:nvSpPr>
          <p:cNvPr id="41" name="TextBox 40"/>
          <p:cNvSpPr txBox="1"/>
          <p:nvPr/>
        </p:nvSpPr>
        <p:spPr>
          <a:xfrm>
            <a:off x="8759952" y="4261104"/>
            <a:ext cx="2743200" cy="384048"/>
          </a:xfrm>
          <a:prstGeom prst="rect">
            <a:avLst/>
          </a:prstGeom>
          <a:noFill/>
        </p:spPr>
        <p:txBody>
          <a:bodyPr wrap="square" lIns="0" rIns="0" tIns="0" bIns="0" anchor="t">
            <a:spAutoFit/>
          </a:bodyPr>
          <a:lstStyle/>
          <a:p>
            <a:pPr algn="l">
              <a:spcAft>
                <a:spcPts val="0"/>
              </a:spcAft>
            </a:pPr>
            <a:r>
              <a:rPr sz="1050" b="0" i="0">
                <a:solidFill>
                  <a:srgbClr val="263126"/>
                </a:solidFill>
                <a:latin typeface="Aptos"/>
              </a:rPr>
              <a:t>Cannot release, refund, dispute, or replace buyer.</a:t>
            </a:r>
          </a:p>
        </p:txBody>
      </p:sp>
      <p:sp>
        <p:nvSpPr>
          <p:cNvPr id="42" name="Rounded Rectangle 41"/>
          <p:cNvSpPr/>
          <p:nvPr/>
        </p:nvSpPr>
        <p:spPr>
          <a:xfrm>
            <a:off x="960120" y="5440680"/>
            <a:ext cx="10287000" cy="658368"/>
          </a:xfrm>
          <a:prstGeom prst="roundRect">
            <a:avLst/>
          </a:prstGeom>
          <a:solidFill>
            <a:srgbClr val="163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43000" y="5614416"/>
            <a:ext cx="9921240" cy="292608"/>
          </a:xfrm>
          <a:prstGeom prst="rect">
            <a:avLst/>
          </a:prstGeom>
          <a:noFill/>
        </p:spPr>
        <p:txBody>
          <a:bodyPr wrap="square" lIns="0" rIns="0" tIns="0" bIns="0" anchor="t">
            <a:spAutoFit/>
          </a:bodyPr>
          <a:lstStyle/>
          <a:p>
            <a:pPr algn="ctr">
              <a:spcAft>
                <a:spcPts val="0"/>
              </a:spcAft>
            </a:pPr>
            <a:r>
              <a:rPr sz="1100" b="1" i="0">
                <a:solidFill>
                  <a:srgbClr val="FFFFFF"/>
                </a:solidFill>
                <a:latin typeface="Aptos"/>
              </a:rPr>
              <a:t>EXAMPLE  •  Buyer sets 50.00 MUSD cap → agent funds Logo pack → cap becomes 0 → agent still cannot release.</a:t>
            </a:r>
          </a:p>
        </p:txBody>
      </p:sp>
      <p:sp>
        <p:nvSpPr>
          <p:cNvPr id="44" name="Rectangle 43"/>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4389120" cy="228600"/>
          </a:xfrm>
          <a:prstGeom prst="rect">
            <a:avLst/>
          </a:prstGeom>
          <a:noFill/>
        </p:spPr>
        <p:txBody>
          <a:bodyPr wrap="square" lIns="0" rIns="0" tIns="0" bIns="0" anchor="t">
            <a:spAutoFit/>
          </a:bodyPr>
          <a:lstStyle/>
          <a:p>
            <a:pPr algn="l">
              <a:spcAft>
                <a:spcPts val="0"/>
              </a:spcAft>
            </a:pPr>
            <a:r>
              <a:rPr sz="1000" b="1" i="0">
                <a:solidFill>
                  <a:srgbClr val="163300"/>
                </a:solidFill>
                <a:latin typeface="Aptos"/>
              </a:rPr>
              <a:t>09  /  ROADMAP</a:t>
            </a:r>
          </a:p>
        </p:txBody>
      </p:sp>
      <p:sp>
        <p:nvSpPr>
          <p:cNvPr id="3" name="TextBox 2"/>
          <p:cNvSpPr txBox="1"/>
          <p:nvPr/>
        </p:nvSpPr>
        <p:spPr>
          <a:xfrm>
            <a:off x="502920" y="658368"/>
            <a:ext cx="11155680" cy="594360"/>
          </a:xfrm>
          <a:prstGeom prst="rect">
            <a:avLst/>
          </a:prstGeom>
          <a:noFill/>
        </p:spPr>
        <p:txBody>
          <a:bodyPr wrap="square" lIns="0" rIns="0" tIns="0" bIns="0" anchor="t">
            <a:spAutoFit/>
          </a:bodyPr>
          <a:lstStyle/>
          <a:p>
            <a:pPr algn="l">
              <a:spcAft>
                <a:spcPts val="0"/>
              </a:spcAft>
            </a:pPr>
            <a:r>
              <a:rPr sz="2700" b="1" i="0">
                <a:solidFill>
                  <a:srgbClr val="111411"/>
                </a:solidFill>
                <a:latin typeface="Aptos"/>
              </a:rPr>
              <a:t>Not in this deployment.</a:t>
            </a:r>
          </a:p>
        </p:txBody>
      </p:sp>
      <p:sp>
        <p:nvSpPr>
          <p:cNvPr id="4" name="TextBox 3"/>
          <p:cNvSpPr txBox="1"/>
          <p:nvPr/>
        </p:nvSpPr>
        <p:spPr>
          <a:xfrm>
            <a:off x="530352" y="1298448"/>
            <a:ext cx="10972800" cy="347472"/>
          </a:xfrm>
          <a:prstGeom prst="rect">
            <a:avLst/>
          </a:prstGeom>
          <a:noFill/>
        </p:spPr>
        <p:txBody>
          <a:bodyPr wrap="square" lIns="0" rIns="0" tIns="0" bIns="0" anchor="t">
            <a:spAutoFit/>
          </a:bodyPr>
          <a:lstStyle/>
          <a:p>
            <a:pPr algn="l">
              <a:spcAft>
                <a:spcPts val="0"/>
              </a:spcAft>
            </a:pPr>
            <a:r>
              <a:rPr sz="1300" b="0" i="0">
                <a:solidFill>
                  <a:srgbClr val="5F6B60"/>
                </a:solidFill>
                <a:latin typeface="Aptos"/>
              </a:rPr>
              <a:t>Planned work only · Existing testnet features are not repeated here.</a:t>
            </a:r>
          </a:p>
        </p:txBody>
      </p:sp>
      <p:sp>
        <p:nvSpPr>
          <p:cNvPr id="5" name="TextBox 4"/>
          <p:cNvSpPr txBox="1"/>
          <p:nvPr/>
        </p:nvSpPr>
        <p:spPr>
          <a:xfrm>
            <a:off x="10515600" y="274320"/>
            <a:ext cx="1143000" cy="256032"/>
          </a:xfrm>
          <a:prstGeom prst="rect">
            <a:avLst/>
          </a:prstGeom>
          <a:noFill/>
        </p:spPr>
        <p:txBody>
          <a:bodyPr wrap="square" lIns="0" rIns="0" tIns="0" bIns="0" anchor="t">
            <a:spAutoFit/>
          </a:bodyPr>
          <a:lstStyle/>
          <a:p>
            <a:pPr algn="r">
              <a:spcAft>
                <a:spcPts val="0"/>
              </a:spcAft>
            </a:pPr>
            <a:r>
              <a:rPr sz="1200" b="1" i="0">
                <a:solidFill>
                  <a:srgbClr val="163300"/>
                </a:solidFill>
                <a:latin typeface="Aptos"/>
              </a:rPr>
              <a:t>RELAY</a:t>
            </a:r>
          </a:p>
        </p:txBody>
      </p:sp>
      <p:sp>
        <p:nvSpPr>
          <p:cNvPr id="6" name="Rounded Rectangle 5"/>
          <p:cNvSpPr/>
          <p:nvPr/>
        </p:nvSpPr>
        <p:spPr>
          <a:xfrm>
            <a:off x="640080" y="1828800"/>
            <a:ext cx="5349240" cy="1033271"/>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1" y="2029968"/>
            <a:ext cx="457200" cy="4572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048256"/>
            <a:ext cx="457200" cy="384048"/>
          </a:xfrm>
          <a:prstGeom prst="rect">
            <a:avLst/>
          </a:prstGeom>
          <a:noFill/>
        </p:spPr>
        <p:txBody>
          <a:bodyPr wrap="square" lIns="0" rIns="0" tIns="0" bIns="0" anchor="ctr">
            <a:spAutoFit/>
          </a:bodyPr>
          <a:lstStyle/>
          <a:p>
            <a:pPr algn="ctr">
              <a:spcAft>
                <a:spcPts val="0"/>
              </a:spcAft>
            </a:pPr>
            <a:r>
              <a:rPr sz="1400" b="1" i="0">
                <a:solidFill>
                  <a:srgbClr val="163300"/>
                </a:solidFill>
                <a:latin typeface="Aptos"/>
              </a:rPr>
              <a:t>1</a:t>
            </a:r>
          </a:p>
        </p:txBody>
      </p:sp>
      <p:sp>
        <p:nvSpPr>
          <p:cNvPr id="9" name="TextBox 8"/>
          <p:cNvSpPr txBox="1"/>
          <p:nvPr/>
        </p:nvSpPr>
        <p:spPr>
          <a:xfrm>
            <a:off x="1417319" y="1984248"/>
            <a:ext cx="4251960" cy="246888"/>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x402 SETTLE</a:t>
            </a:r>
          </a:p>
        </p:txBody>
      </p:sp>
      <p:sp>
        <p:nvSpPr>
          <p:cNvPr id="10" name="TextBox 9"/>
          <p:cNvSpPr txBox="1"/>
          <p:nvPr/>
        </p:nvSpPr>
        <p:spPr>
          <a:xfrm>
            <a:off x="1417319" y="2286000"/>
            <a:ext cx="4251960" cy="438912"/>
          </a:xfrm>
          <a:prstGeom prst="rect">
            <a:avLst/>
          </a:prstGeom>
          <a:noFill/>
        </p:spPr>
        <p:txBody>
          <a:bodyPr wrap="square" lIns="0" rIns="0" tIns="0" bIns="0" anchor="t">
            <a:spAutoFit/>
          </a:bodyPr>
          <a:lstStyle/>
          <a:p>
            <a:pPr algn="l">
              <a:spcAft>
                <a:spcPts val="0"/>
              </a:spcAft>
            </a:pPr>
            <a:r>
              <a:rPr sz="1000" b="0" i="0">
                <a:solidFill>
                  <a:srgbClr val="263126"/>
                </a:solidFill>
                <a:latin typeface="Aptos"/>
              </a:rPr>
              <a:t>Facilitator submits MUSD approval + fundEscrow, then returns receipt.</a:t>
            </a:r>
          </a:p>
        </p:txBody>
      </p:sp>
      <p:sp>
        <p:nvSpPr>
          <p:cNvPr id="11" name="Rounded Rectangle 10"/>
          <p:cNvSpPr/>
          <p:nvPr/>
        </p:nvSpPr>
        <p:spPr>
          <a:xfrm>
            <a:off x="6355080" y="1828800"/>
            <a:ext cx="5349240" cy="1033271"/>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9672" y="2029968"/>
            <a:ext cx="457200" cy="4572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048256"/>
            <a:ext cx="457200" cy="384048"/>
          </a:xfrm>
          <a:prstGeom prst="rect">
            <a:avLst/>
          </a:prstGeom>
          <a:noFill/>
        </p:spPr>
        <p:txBody>
          <a:bodyPr wrap="square" lIns="0" rIns="0" tIns="0" bIns="0" anchor="ctr">
            <a:spAutoFit/>
          </a:bodyPr>
          <a:lstStyle/>
          <a:p>
            <a:pPr algn="ctr">
              <a:spcAft>
                <a:spcPts val="0"/>
              </a:spcAft>
            </a:pPr>
            <a:r>
              <a:rPr sz="1400" b="1" i="0">
                <a:solidFill>
                  <a:srgbClr val="163300"/>
                </a:solidFill>
                <a:latin typeface="Aptos"/>
              </a:rPr>
              <a:t>2</a:t>
            </a:r>
          </a:p>
        </p:txBody>
      </p:sp>
      <p:sp>
        <p:nvSpPr>
          <p:cNvPr id="14" name="TextBox 13"/>
          <p:cNvSpPr txBox="1"/>
          <p:nvPr/>
        </p:nvSpPr>
        <p:spPr>
          <a:xfrm>
            <a:off x="7132320" y="1984248"/>
            <a:ext cx="4251960" cy="246888"/>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BORROW, THEN FUND</a:t>
            </a:r>
          </a:p>
        </p:txBody>
      </p:sp>
      <p:sp>
        <p:nvSpPr>
          <p:cNvPr id="15" name="TextBox 14"/>
          <p:cNvSpPr txBox="1"/>
          <p:nvPr/>
        </p:nvSpPr>
        <p:spPr>
          <a:xfrm>
            <a:off x="7132320" y="2286000"/>
            <a:ext cx="4251960" cy="438912"/>
          </a:xfrm>
          <a:prstGeom prst="rect">
            <a:avLst/>
          </a:prstGeom>
          <a:noFill/>
        </p:spPr>
        <p:txBody>
          <a:bodyPr wrap="square" lIns="0" rIns="0" tIns="0" bIns="0" anchor="t">
            <a:spAutoFit/>
          </a:bodyPr>
          <a:lstStyle/>
          <a:p>
            <a:pPr algn="l">
              <a:spcAft>
                <a:spcPts val="0"/>
              </a:spcAft>
            </a:pPr>
            <a:r>
              <a:rPr sz="1000" b="0" i="0">
                <a:solidFill>
                  <a:srgbClr val="263126"/>
                </a:solidFill>
                <a:latin typeface="Aptos"/>
              </a:rPr>
              <a:t>Borrow invoice MUSD against BTC and return to fund the agreement.</a:t>
            </a:r>
          </a:p>
        </p:txBody>
      </p:sp>
      <p:sp>
        <p:nvSpPr>
          <p:cNvPr id="16" name="Rounded Rectangle 15"/>
          <p:cNvSpPr/>
          <p:nvPr/>
        </p:nvSpPr>
        <p:spPr>
          <a:xfrm>
            <a:off x="640080" y="3127248"/>
            <a:ext cx="5349240" cy="1033271"/>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1" y="3328416"/>
            <a:ext cx="457200" cy="4572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3346704"/>
            <a:ext cx="457200" cy="384048"/>
          </a:xfrm>
          <a:prstGeom prst="rect">
            <a:avLst/>
          </a:prstGeom>
          <a:noFill/>
        </p:spPr>
        <p:txBody>
          <a:bodyPr wrap="square" lIns="0" rIns="0" tIns="0" bIns="0" anchor="ctr">
            <a:spAutoFit/>
          </a:bodyPr>
          <a:lstStyle/>
          <a:p>
            <a:pPr algn="ctr">
              <a:spcAft>
                <a:spcPts val="0"/>
              </a:spcAft>
            </a:pPr>
            <a:r>
              <a:rPr sz="1400" b="1" i="0">
                <a:solidFill>
                  <a:srgbClr val="163300"/>
                </a:solidFill>
                <a:latin typeface="Aptos"/>
              </a:rPr>
              <a:t>3</a:t>
            </a:r>
          </a:p>
        </p:txBody>
      </p:sp>
      <p:sp>
        <p:nvSpPr>
          <p:cNvPr id="19" name="TextBox 18"/>
          <p:cNvSpPr txBox="1"/>
          <p:nvPr/>
        </p:nvSpPr>
        <p:spPr>
          <a:xfrm>
            <a:off x="1417319" y="3282696"/>
            <a:ext cx="4251960" cy="246888"/>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PUBLIC ESCROW INTERFACE</a:t>
            </a:r>
          </a:p>
        </p:txBody>
      </p:sp>
      <p:sp>
        <p:nvSpPr>
          <p:cNvPr id="20" name="TextBox 19"/>
          <p:cNvSpPr txBox="1"/>
          <p:nvPr/>
        </p:nvSpPr>
        <p:spPr>
          <a:xfrm>
            <a:off x="1417319" y="3584448"/>
            <a:ext cx="4251960" cy="438912"/>
          </a:xfrm>
          <a:prstGeom prst="rect">
            <a:avLst/>
          </a:prstGeom>
          <a:noFill/>
        </p:spPr>
        <p:txBody>
          <a:bodyPr wrap="square" lIns="0" rIns="0" tIns="0" bIns="0" anchor="t">
            <a:spAutoFit/>
          </a:bodyPr>
          <a:lstStyle/>
          <a:p>
            <a:pPr algn="l">
              <a:spcAft>
                <a:spcPts val="0"/>
              </a:spcAft>
            </a:pPr>
            <a:r>
              <a:rPr sz="1000" b="0" i="0">
                <a:solidFill>
                  <a:srgbClr val="263126"/>
                </a:solidFill>
                <a:latin typeface="Aptos"/>
              </a:rPr>
              <a:t>Verified contract, ABI, and call notes for core funding and dispute functions.</a:t>
            </a:r>
          </a:p>
        </p:txBody>
      </p:sp>
      <p:sp>
        <p:nvSpPr>
          <p:cNvPr id="21" name="Rounded Rectangle 20"/>
          <p:cNvSpPr/>
          <p:nvPr/>
        </p:nvSpPr>
        <p:spPr>
          <a:xfrm>
            <a:off x="6355080" y="3127248"/>
            <a:ext cx="5349240" cy="1033271"/>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19672" y="3328416"/>
            <a:ext cx="457200" cy="4572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3346704"/>
            <a:ext cx="457200" cy="384048"/>
          </a:xfrm>
          <a:prstGeom prst="rect">
            <a:avLst/>
          </a:prstGeom>
          <a:noFill/>
        </p:spPr>
        <p:txBody>
          <a:bodyPr wrap="square" lIns="0" rIns="0" tIns="0" bIns="0" anchor="ctr">
            <a:spAutoFit/>
          </a:bodyPr>
          <a:lstStyle/>
          <a:p>
            <a:pPr algn="ctr">
              <a:spcAft>
                <a:spcPts val="0"/>
              </a:spcAft>
            </a:pPr>
            <a:r>
              <a:rPr sz="1400" b="1" i="0">
                <a:solidFill>
                  <a:srgbClr val="163300"/>
                </a:solidFill>
                <a:latin typeface="Aptos"/>
              </a:rPr>
              <a:t>4</a:t>
            </a:r>
          </a:p>
        </p:txBody>
      </p:sp>
      <p:sp>
        <p:nvSpPr>
          <p:cNvPr id="24" name="TextBox 23"/>
          <p:cNvSpPr txBox="1"/>
          <p:nvPr/>
        </p:nvSpPr>
        <p:spPr>
          <a:xfrm>
            <a:off x="7132320" y="3282696"/>
            <a:ext cx="4251960" cy="246888"/>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REFERENCE SPENDING AGENT</a:t>
            </a:r>
          </a:p>
        </p:txBody>
      </p:sp>
      <p:sp>
        <p:nvSpPr>
          <p:cNvPr id="25" name="TextBox 24"/>
          <p:cNvSpPr txBox="1"/>
          <p:nvPr/>
        </p:nvSpPr>
        <p:spPr>
          <a:xfrm>
            <a:off x="7132320" y="3584448"/>
            <a:ext cx="4251960" cy="438912"/>
          </a:xfrm>
          <a:prstGeom prst="rect">
            <a:avLst/>
          </a:prstGeom>
          <a:noFill/>
        </p:spPr>
        <p:txBody>
          <a:bodyPr wrap="square" lIns="0" rIns="0" tIns="0" bIns="0" anchor="t">
            <a:spAutoFit/>
          </a:bodyPr>
          <a:lstStyle/>
          <a:p>
            <a:pPr algn="l">
              <a:spcAft>
                <a:spcPts val="0"/>
              </a:spcAft>
            </a:pPr>
            <a:r>
              <a:rPr sz="1000" b="0" i="0">
                <a:solidFill>
                  <a:srgbClr val="263126"/>
                </a:solidFill>
                <a:latin typeface="Aptos"/>
              </a:rPr>
              <a:t>One agent restricted to fundEscrowAsAgent and the buyer's remaining budget.</a:t>
            </a:r>
          </a:p>
        </p:txBody>
      </p:sp>
      <p:sp>
        <p:nvSpPr>
          <p:cNvPr id="26" name="Rounded Rectangle 25"/>
          <p:cNvSpPr/>
          <p:nvPr/>
        </p:nvSpPr>
        <p:spPr>
          <a:xfrm>
            <a:off x="640080" y="4425696"/>
            <a:ext cx="5349240" cy="1033271"/>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1" y="4626864"/>
            <a:ext cx="457200" cy="4572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1" y="4645152"/>
            <a:ext cx="457200" cy="384048"/>
          </a:xfrm>
          <a:prstGeom prst="rect">
            <a:avLst/>
          </a:prstGeom>
          <a:noFill/>
        </p:spPr>
        <p:txBody>
          <a:bodyPr wrap="square" lIns="0" rIns="0" tIns="0" bIns="0" anchor="ctr">
            <a:spAutoFit/>
          </a:bodyPr>
          <a:lstStyle/>
          <a:p>
            <a:pPr algn="ctr">
              <a:spcAft>
                <a:spcPts val="0"/>
              </a:spcAft>
            </a:pPr>
            <a:r>
              <a:rPr sz="1400" b="1" i="0">
                <a:solidFill>
                  <a:srgbClr val="163300"/>
                </a:solidFill>
                <a:latin typeface="Aptos"/>
              </a:rPr>
              <a:t>5</a:t>
            </a:r>
          </a:p>
        </p:txBody>
      </p:sp>
      <p:sp>
        <p:nvSpPr>
          <p:cNvPr id="29" name="TextBox 28"/>
          <p:cNvSpPr txBox="1"/>
          <p:nvPr/>
        </p:nvSpPr>
        <p:spPr>
          <a:xfrm>
            <a:off x="1417319" y="4581144"/>
            <a:ext cx="4251960" cy="246888"/>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MAINNET ESCROW</a:t>
            </a:r>
          </a:p>
        </p:txBody>
      </p:sp>
      <p:sp>
        <p:nvSpPr>
          <p:cNvPr id="30" name="TextBox 29"/>
          <p:cNvSpPr txBox="1"/>
          <p:nvPr/>
        </p:nvSpPr>
        <p:spPr>
          <a:xfrm>
            <a:off x="1417319" y="4882896"/>
            <a:ext cx="4251960" cy="438912"/>
          </a:xfrm>
          <a:prstGeom prst="rect">
            <a:avLst/>
          </a:prstGeom>
          <a:noFill/>
        </p:spPr>
        <p:txBody>
          <a:bodyPr wrap="square" lIns="0" rIns="0" tIns="0" bIns="0" anchor="t">
            <a:spAutoFit/>
          </a:bodyPr>
          <a:lstStyle/>
          <a:p>
            <a:pPr algn="l">
              <a:spcAft>
                <a:spcPts val="0"/>
              </a:spcAft>
            </a:pPr>
            <a:r>
              <a:rPr sz="1000" b="0" i="0">
                <a:solidFill>
                  <a:srgbClr val="263126"/>
                </a:solidFill>
                <a:latin typeface="Aptos"/>
              </a:rPr>
              <a:t>Official mainnet MUSD only after independent audit and explorer verification.</a:t>
            </a:r>
          </a:p>
        </p:txBody>
      </p:sp>
      <p:sp>
        <p:nvSpPr>
          <p:cNvPr id="31" name="Rounded Rectangle 30"/>
          <p:cNvSpPr/>
          <p:nvPr/>
        </p:nvSpPr>
        <p:spPr>
          <a:xfrm>
            <a:off x="6355080" y="4425696"/>
            <a:ext cx="5349240" cy="1033271"/>
          </a:xfrm>
          <a:prstGeom prst="roundRect">
            <a:avLst/>
          </a:prstGeom>
          <a:solidFill>
            <a:srgbClr val="F7FAF5"/>
          </a:solidFill>
          <a:ln w="12700">
            <a:solidFill>
              <a:srgbClr val="D8E2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19672" y="4626864"/>
            <a:ext cx="457200" cy="457200"/>
          </a:xfrm>
          <a:prstGeom prst="ellipse">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19672" y="4645152"/>
            <a:ext cx="457200" cy="384048"/>
          </a:xfrm>
          <a:prstGeom prst="rect">
            <a:avLst/>
          </a:prstGeom>
          <a:noFill/>
        </p:spPr>
        <p:txBody>
          <a:bodyPr wrap="square" lIns="0" rIns="0" tIns="0" bIns="0" anchor="ctr">
            <a:spAutoFit/>
          </a:bodyPr>
          <a:lstStyle/>
          <a:p>
            <a:pPr algn="ctr">
              <a:spcAft>
                <a:spcPts val="0"/>
              </a:spcAft>
            </a:pPr>
            <a:r>
              <a:rPr sz="1400" b="1" i="0">
                <a:solidFill>
                  <a:srgbClr val="163300"/>
                </a:solidFill>
                <a:latin typeface="Aptos"/>
              </a:rPr>
              <a:t>6</a:t>
            </a:r>
          </a:p>
        </p:txBody>
      </p:sp>
      <p:sp>
        <p:nvSpPr>
          <p:cNvPr id="34" name="TextBox 33"/>
          <p:cNvSpPr txBox="1"/>
          <p:nvPr/>
        </p:nvSpPr>
        <p:spPr>
          <a:xfrm>
            <a:off x="7132320" y="4581144"/>
            <a:ext cx="4251960" cy="246888"/>
          </a:xfrm>
          <a:prstGeom prst="rect">
            <a:avLst/>
          </a:prstGeom>
          <a:noFill/>
        </p:spPr>
        <p:txBody>
          <a:bodyPr wrap="square" lIns="0" rIns="0" tIns="0" bIns="0" anchor="t">
            <a:spAutoFit/>
          </a:bodyPr>
          <a:lstStyle/>
          <a:p>
            <a:pPr algn="l">
              <a:spcAft>
                <a:spcPts val="0"/>
              </a:spcAft>
            </a:pPr>
            <a:r>
              <a:rPr sz="1100" b="1" i="0">
                <a:solidFill>
                  <a:srgbClr val="163300"/>
                </a:solidFill>
                <a:latin typeface="Aptos"/>
              </a:rPr>
              <a:t>MERCHANT RESERVE</a:t>
            </a:r>
          </a:p>
        </p:txBody>
      </p:sp>
      <p:sp>
        <p:nvSpPr>
          <p:cNvPr id="35" name="TextBox 34"/>
          <p:cNvSpPr txBox="1"/>
          <p:nvPr/>
        </p:nvSpPr>
        <p:spPr>
          <a:xfrm>
            <a:off x="7132320" y="4882896"/>
            <a:ext cx="4251960" cy="438912"/>
          </a:xfrm>
          <a:prstGeom prst="rect">
            <a:avLst/>
          </a:prstGeom>
          <a:noFill/>
        </p:spPr>
        <p:txBody>
          <a:bodyPr wrap="square" lIns="0" rIns="0" tIns="0" bIns="0" anchor="t">
            <a:spAutoFit/>
          </a:bodyPr>
          <a:lstStyle/>
          <a:p>
            <a:pPr algn="l">
              <a:spcAft>
                <a:spcPts val="0"/>
              </a:spcAft>
            </a:pPr>
            <a:r>
              <a:rPr sz="1000" b="0" i="0">
                <a:solidFill>
                  <a:srgbClr val="263126"/>
                </a:solidFill>
                <a:latin typeface="Aptos"/>
              </a:rPr>
              <a:t>Verified Mezo vault deposit and withdrawal only after a real withdrawal is tested.</a:t>
            </a:r>
          </a:p>
        </p:txBody>
      </p:sp>
      <p:sp>
        <p:nvSpPr>
          <p:cNvPr id="36" name="Rounded Rectangle 35"/>
          <p:cNvSpPr/>
          <p:nvPr/>
        </p:nvSpPr>
        <p:spPr>
          <a:xfrm>
            <a:off x="4480560" y="5943600"/>
            <a:ext cx="3108960" cy="292608"/>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5966460"/>
            <a:ext cx="3017520" cy="237744"/>
          </a:xfrm>
          <a:prstGeom prst="rect">
            <a:avLst/>
          </a:prstGeom>
          <a:noFill/>
        </p:spPr>
        <p:txBody>
          <a:bodyPr wrap="square" lIns="0" rIns="0" tIns="0" bIns="0" anchor="ctr">
            <a:spAutoFit/>
          </a:bodyPr>
          <a:lstStyle/>
          <a:p>
            <a:pPr algn="ctr">
              <a:spcAft>
                <a:spcPts val="0"/>
              </a:spcAft>
            </a:pPr>
            <a:r>
              <a:rPr sz="1000" b="1" i="0">
                <a:solidFill>
                  <a:srgbClr val="163300"/>
                </a:solidFill>
                <a:latin typeface="Aptos"/>
              </a:rPr>
              <a:t>PLANNED — NOT SHIPPED</a:t>
            </a:r>
          </a:p>
        </p:txBody>
      </p:sp>
      <p:sp>
        <p:nvSpPr>
          <p:cNvPr id="38" name="Rectangle 37"/>
          <p:cNvSpPr/>
          <p:nvPr/>
        </p:nvSpPr>
        <p:spPr>
          <a:xfrm>
            <a:off x="502920" y="6510528"/>
            <a:ext cx="11155680" cy="13716"/>
          </a:xfrm>
          <a:prstGeom prst="rect">
            <a:avLst/>
          </a:prstGeom>
          <a:solidFill>
            <a:srgbClr val="D8E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6565392"/>
            <a:ext cx="7772400" cy="164592"/>
          </a:xfrm>
          <a:prstGeom prst="rect">
            <a:avLst/>
          </a:prstGeom>
          <a:noFill/>
        </p:spPr>
        <p:txBody>
          <a:bodyPr wrap="square" lIns="0" rIns="0" tIns="0" bIns="0" anchor="t">
            <a:spAutoFit/>
          </a:bodyPr>
          <a:lstStyle/>
          <a:p>
            <a:pPr algn="l">
              <a:spcAft>
                <a:spcPts val="0"/>
              </a:spcAft>
            </a:pPr>
            <a:r>
              <a:rPr sz="800" b="1" i="0">
                <a:solidFill>
                  <a:srgbClr val="5F6B60"/>
                </a:solidFill>
                <a:latin typeface="Aptos"/>
              </a:rPr>
              <a:t>MEZO TESTNET  •  CHAIN 31611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3300"/>
        </a:solidFill>
        <a:effectLst/>
      </p:bgPr>
    </p:bg>
    <p:spTree>
      <p:nvGrpSpPr>
        <p:cNvPr id="1" name=""/>
        <p:cNvGrpSpPr/>
        <p:nvPr/>
      </p:nvGrpSpPr>
      <p:grpSpPr/>
      <p:sp>
        <p:nvSpPr>
          <p:cNvPr id="2" name="TextBox 1"/>
          <p:cNvSpPr txBox="1"/>
          <p:nvPr/>
        </p:nvSpPr>
        <p:spPr>
          <a:xfrm>
            <a:off x="594360" y="411480"/>
            <a:ext cx="2926080" cy="228600"/>
          </a:xfrm>
          <a:prstGeom prst="rect">
            <a:avLst/>
          </a:prstGeom>
          <a:noFill/>
        </p:spPr>
        <p:txBody>
          <a:bodyPr wrap="square" lIns="0" rIns="0" tIns="0" bIns="0" anchor="t">
            <a:spAutoFit/>
          </a:bodyPr>
          <a:lstStyle/>
          <a:p>
            <a:pPr algn="l">
              <a:spcAft>
                <a:spcPts val="0"/>
              </a:spcAft>
            </a:pPr>
            <a:r>
              <a:rPr sz="1000" b="1" i="0">
                <a:solidFill>
                  <a:srgbClr val="9FE870"/>
                </a:solidFill>
                <a:latin typeface="Aptos"/>
              </a:rPr>
              <a:t>10  /  CLOSE</a:t>
            </a:r>
          </a:p>
        </p:txBody>
      </p:sp>
      <p:sp>
        <p:nvSpPr>
          <p:cNvPr id="3" name="TextBox 2"/>
          <p:cNvSpPr txBox="1"/>
          <p:nvPr/>
        </p:nvSpPr>
        <p:spPr>
          <a:xfrm>
            <a:off x="594360" y="868680"/>
            <a:ext cx="6766560" cy="914400"/>
          </a:xfrm>
          <a:prstGeom prst="rect">
            <a:avLst/>
          </a:prstGeom>
          <a:noFill/>
        </p:spPr>
        <p:txBody>
          <a:bodyPr wrap="square" lIns="0" rIns="0" tIns="0" bIns="0" anchor="t">
            <a:spAutoFit/>
          </a:bodyPr>
          <a:lstStyle/>
          <a:p>
            <a:pPr algn="l">
              <a:spcAft>
                <a:spcPts val="0"/>
              </a:spcAft>
            </a:pPr>
            <a:r>
              <a:rPr sz="6000" b="1" i="0">
                <a:solidFill>
                  <a:srgbClr val="FFFFFF"/>
                </a:solidFill>
                <a:latin typeface="Aptos"/>
              </a:rPr>
              <a:t>RELAY</a:t>
            </a:r>
          </a:p>
        </p:txBody>
      </p:sp>
      <p:sp>
        <p:nvSpPr>
          <p:cNvPr id="4" name="TextBox 3"/>
          <p:cNvSpPr txBox="1"/>
          <p:nvPr/>
        </p:nvSpPr>
        <p:spPr>
          <a:xfrm>
            <a:off x="640080" y="1920240"/>
            <a:ext cx="6400800" cy="1005840"/>
          </a:xfrm>
          <a:prstGeom prst="rect">
            <a:avLst/>
          </a:prstGeom>
          <a:noFill/>
        </p:spPr>
        <p:txBody>
          <a:bodyPr wrap="square" lIns="0" rIns="0" tIns="0" bIns="0" anchor="t">
            <a:spAutoFit/>
          </a:bodyPr>
          <a:lstStyle/>
          <a:p>
            <a:pPr algn="l">
              <a:spcAft>
                <a:spcPts val="0"/>
              </a:spcAft>
            </a:pPr>
            <a:r>
              <a:rPr sz="2800" b="1" i="0">
                <a:solidFill>
                  <a:srgbClr val="9FE870"/>
                </a:solidFill>
                <a:latin typeface="Aptos"/>
              </a:rPr>
              <a:t>SECURE THE DEAL.
MOVE THE VALUE.</a:t>
            </a:r>
          </a:p>
        </p:txBody>
      </p:sp>
      <p:sp>
        <p:nvSpPr>
          <p:cNvPr id="5" name="TextBox 4"/>
          <p:cNvSpPr txBox="1"/>
          <p:nvPr/>
        </p:nvSpPr>
        <p:spPr>
          <a:xfrm>
            <a:off x="640080" y="3246120"/>
            <a:ext cx="6675120" cy="384048"/>
          </a:xfrm>
          <a:prstGeom prst="rect">
            <a:avLst/>
          </a:prstGeom>
          <a:noFill/>
        </p:spPr>
        <p:txBody>
          <a:bodyPr wrap="square" lIns="0" rIns="0" tIns="0" bIns="0" anchor="t">
            <a:spAutoFit/>
          </a:bodyPr>
          <a:lstStyle/>
          <a:p>
            <a:pPr algn="l">
              <a:spcAft>
                <a:spcPts val="0"/>
              </a:spcAft>
            </a:pPr>
            <a:r>
              <a:rPr sz="1900" b="1" i="0">
                <a:solidFill>
                  <a:srgbClr val="FFFFFF"/>
                </a:solidFill>
                <a:latin typeface="Aptos"/>
              </a:rPr>
              <a:t>Try the testnet path from the repo.</a:t>
            </a:r>
          </a:p>
        </p:txBody>
      </p:sp>
      <p:sp>
        <p:nvSpPr>
          <p:cNvPr id="6" name="TextBox 5"/>
          <p:cNvSpPr txBox="1"/>
          <p:nvPr/>
        </p:nvSpPr>
        <p:spPr>
          <a:xfrm>
            <a:off x="640080" y="3794760"/>
            <a:ext cx="6949440" cy="320040"/>
          </a:xfrm>
          <a:prstGeom prst="rect">
            <a:avLst/>
          </a:prstGeom>
          <a:noFill/>
        </p:spPr>
        <p:txBody>
          <a:bodyPr wrap="square" lIns="0" rIns="0" tIns="0" bIns="0" anchor="t">
            <a:spAutoFit/>
          </a:bodyPr>
          <a:lstStyle/>
          <a:p>
            <a:pPr algn="l">
              <a:spcAft>
                <a:spcPts val="0"/>
              </a:spcAft>
            </a:pPr>
            <a:r>
              <a:rPr sz="1600" b="1" i="0">
                <a:solidFill>
                  <a:srgbClr val="FFFFFF"/>
                </a:solidFill>
                <a:latin typeface="Aptos"/>
              </a:rPr>
              <a:t>github.com/AhmedAmer72/RELAY</a:t>
            </a:r>
          </a:p>
        </p:txBody>
      </p:sp>
      <p:sp>
        <p:nvSpPr>
          <p:cNvPr id="7" name="TextBox 6"/>
          <p:cNvSpPr txBox="1"/>
          <p:nvPr/>
        </p:nvSpPr>
        <p:spPr>
          <a:xfrm>
            <a:off x="640080" y="4297680"/>
            <a:ext cx="5029200" cy="256032"/>
          </a:xfrm>
          <a:prstGeom prst="rect">
            <a:avLst/>
          </a:prstGeom>
          <a:noFill/>
        </p:spPr>
        <p:txBody>
          <a:bodyPr wrap="square" lIns="0" rIns="0" tIns="0" bIns="0" anchor="t">
            <a:spAutoFit/>
          </a:bodyPr>
          <a:lstStyle/>
          <a:p>
            <a:pPr algn="l">
              <a:spcAft>
                <a:spcPts val="0"/>
              </a:spcAft>
            </a:pPr>
            <a:r>
              <a:rPr sz="1200" b="1" i="0">
                <a:solidFill>
                  <a:srgbClr val="DDE8D8"/>
                </a:solidFill>
                <a:latin typeface="Aptos"/>
              </a:rPr>
              <a:t>Mezo Testnet · Chain 31611</a:t>
            </a:r>
          </a:p>
        </p:txBody>
      </p:sp>
      <p:sp>
        <p:nvSpPr>
          <p:cNvPr id="8" name="TextBox 7"/>
          <p:cNvSpPr txBox="1"/>
          <p:nvPr/>
        </p:nvSpPr>
        <p:spPr>
          <a:xfrm>
            <a:off x="640080" y="4645152"/>
            <a:ext cx="7315200" cy="256032"/>
          </a:xfrm>
          <a:prstGeom prst="rect">
            <a:avLst/>
          </a:prstGeom>
          <a:noFill/>
        </p:spPr>
        <p:txBody>
          <a:bodyPr wrap="square" lIns="0" rIns="0" tIns="0" bIns="0" anchor="t">
            <a:spAutoFit/>
          </a:bodyPr>
          <a:lstStyle/>
          <a:p>
            <a:pPr algn="l">
              <a:spcAft>
                <a:spcPts val="0"/>
              </a:spcAft>
            </a:pPr>
            <a:r>
              <a:rPr sz="1000" b="0" i="0">
                <a:solidFill>
                  <a:srgbClr val="DDE8D8"/>
                </a:solidFill>
                <a:latin typeface="Aptos"/>
              </a:rPr>
              <a:t>0x22535C947Fd951bbC6C03f8D8A1159ad3a159c46</a:t>
            </a:r>
          </a:p>
        </p:txBody>
      </p:sp>
      <p:sp>
        <p:nvSpPr>
          <p:cNvPr id="9" name="Rounded Rectangle 8"/>
          <p:cNvSpPr/>
          <p:nvPr/>
        </p:nvSpPr>
        <p:spPr>
          <a:xfrm>
            <a:off x="8366760" y="1417320"/>
            <a:ext cx="2834640" cy="713232"/>
          </a:xfrm>
          <a:prstGeom prst="roundRect">
            <a:avLst/>
          </a:prstGeom>
          <a:solidFill>
            <a:srgbClr val="214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1527048"/>
            <a:ext cx="2468880"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Aptos"/>
              </a:rPr>
              <a:t>AGREE</a:t>
            </a:r>
          </a:p>
        </p:txBody>
      </p:sp>
      <p:sp>
        <p:nvSpPr>
          <p:cNvPr id="11" name="TextBox 10"/>
          <p:cNvSpPr txBox="1"/>
          <p:nvPr/>
        </p:nvSpPr>
        <p:spPr>
          <a:xfrm>
            <a:off x="8549640" y="1801368"/>
            <a:ext cx="2468880" cy="182880"/>
          </a:xfrm>
          <a:prstGeom prst="rect">
            <a:avLst/>
          </a:prstGeom>
          <a:noFill/>
        </p:spPr>
        <p:txBody>
          <a:bodyPr wrap="square" lIns="0" rIns="0" tIns="0" bIns="0" anchor="t">
            <a:spAutoFit/>
          </a:bodyPr>
          <a:lstStyle/>
          <a:p>
            <a:pPr algn="ctr">
              <a:spcAft>
                <a:spcPts val="0"/>
              </a:spcAft>
            </a:pPr>
            <a:r>
              <a:rPr sz="900" b="0" i="0">
                <a:solidFill>
                  <a:srgbClr val="DDE8D8"/>
                </a:solidFill>
                <a:latin typeface="Aptos"/>
              </a:rPr>
              <a:t>Read terms</a:t>
            </a:r>
          </a:p>
        </p:txBody>
      </p:sp>
      <p:cxnSp>
        <p:nvCxnSpPr>
          <p:cNvPr id="12" name="Connector 11"/>
          <p:cNvCxnSpPr/>
          <p:nvPr/>
        </p:nvCxnSpPr>
        <p:spPr>
          <a:xfrm>
            <a:off x="9784080" y="2148840"/>
            <a:ext cx="0" cy="201168"/>
          </a:xfrm>
          <a:prstGeom prst="line">
            <a:avLst/>
          </a:prstGeom>
          <a:ln w="19050">
            <a:solidFill>
              <a:srgbClr val="9FE87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366760" y="2377440"/>
            <a:ext cx="2834640" cy="713232"/>
          </a:xfrm>
          <a:prstGeom prst="roundRect">
            <a:avLst/>
          </a:prstGeom>
          <a:solidFill>
            <a:srgbClr val="214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2487168"/>
            <a:ext cx="2468880"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Aptos"/>
              </a:rPr>
              <a:t>FUND</a:t>
            </a:r>
          </a:p>
        </p:txBody>
      </p:sp>
      <p:sp>
        <p:nvSpPr>
          <p:cNvPr id="15" name="TextBox 14"/>
          <p:cNvSpPr txBox="1"/>
          <p:nvPr/>
        </p:nvSpPr>
        <p:spPr>
          <a:xfrm>
            <a:off x="8549640" y="2761488"/>
            <a:ext cx="2468880" cy="182880"/>
          </a:xfrm>
          <a:prstGeom prst="rect">
            <a:avLst/>
          </a:prstGeom>
          <a:noFill/>
        </p:spPr>
        <p:txBody>
          <a:bodyPr wrap="square" lIns="0" rIns="0" tIns="0" bIns="0" anchor="t">
            <a:spAutoFit/>
          </a:bodyPr>
          <a:lstStyle/>
          <a:p>
            <a:pPr algn="ctr">
              <a:spcAft>
                <a:spcPts val="0"/>
              </a:spcAft>
            </a:pPr>
            <a:r>
              <a:rPr sz="900" b="0" i="0">
                <a:solidFill>
                  <a:srgbClr val="DDE8D8"/>
                </a:solidFill>
                <a:latin typeface="Aptos"/>
              </a:rPr>
              <a:t>Exact MUSD</a:t>
            </a:r>
          </a:p>
        </p:txBody>
      </p:sp>
      <p:cxnSp>
        <p:nvCxnSpPr>
          <p:cNvPr id="16" name="Connector 15"/>
          <p:cNvCxnSpPr/>
          <p:nvPr/>
        </p:nvCxnSpPr>
        <p:spPr>
          <a:xfrm>
            <a:off x="9784080" y="3108960"/>
            <a:ext cx="0" cy="201168"/>
          </a:xfrm>
          <a:prstGeom prst="line">
            <a:avLst/>
          </a:prstGeom>
          <a:ln w="19050">
            <a:solidFill>
              <a:srgbClr val="9FE87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66760" y="3337560"/>
            <a:ext cx="2834640" cy="713232"/>
          </a:xfrm>
          <a:prstGeom prst="roundRect">
            <a:avLst/>
          </a:prstGeom>
          <a:solidFill>
            <a:srgbClr val="214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3447288"/>
            <a:ext cx="2468880" cy="219456"/>
          </a:xfrm>
          <a:prstGeom prst="rect">
            <a:avLst/>
          </a:prstGeom>
          <a:noFill/>
        </p:spPr>
        <p:txBody>
          <a:bodyPr wrap="square" lIns="0" rIns="0" tIns="0" bIns="0" anchor="t">
            <a:spAutoFit/>
          </a:bodyPr>
          <a:lstStyle/>
          <a:p>
            <a:pPr algn="ctr">
              <a:spcAft>
                <a:spcPts val="0"/>
              </a:spcAft>
            </a:pPr>
            <a:r>
              <a:rPr sz="1200" b="1" i="0">
                <a:solidFill>
                  <a:srgbClr val="FFFFFF"/>
                </a:solidFill>
                <a:latin typeface="Aptos"/>
              </a:rPr>
              <a:t>DELIVER</a:t>
            </a:r>
          </a:p>
        </p:txBody>
      </p:sp>
      <p:sp>
        <p:nvSpPr>
          <p:cNvPr id="19" name="TextBox 18"/>
          <p:cNvSpPr txBox="1"/>
          <p:nvPr/>
        </p:nvSpPr>
        <p:spPr>
          <a:xfrm>
            <a:off x="8549640" y="3721608"/>
            <a:ext cx="2468880" cy="182880"/>
          </a:xfrm>
          <a:prstGeom prst="rect">
            <a:avLst/>
          </a:prstGeom>
          <a:noFill/>
        </p:spPr>
        <p:txBody>
          <a:bodyPr wrap="square" lIns="0" rIns="0" tIns="0" bIns="0" anchor="t">
            <a:spAutoFit/>
          </a:bodyPr>
          <a:lstStyle/>
          <a:p>
            <a:pPr algn="ctr">
              <a:spcAft>
                <a:spcPts val="0"/>
              </a:spcAft>
            </a:pPr>
            <a:r>
              <a:rPr sz="900" b="0" i="0">
                <a:solidFill>
                  <a:srgbClr val="DDE8D8"/>
                </a:solidFill>
                <a:latin typeface="Aptos"/>
              </a:rPr>
              <a:t>Note + link</a:t>
            </a:r>
          </a:p>
        </p:txBody>
      </p:sp>
      <p:cxnSp>
        <p:nvCxnSpPr>
          <p:cNvPr id="20" name="Connector 19"/>
          <p:cNvCxnSpPr/>
          <p:nvPr/>
        </p:nvCxnSpPr>
        <p:spPr>
          <a:xfrm>
            <a:off x="9784080" y="4069080"/>
            <a:ext cx="0" cy="201168"/>
          </a:xfrm>
          <a:prstGeom prst="line">
            <a:avLst/>
          </a:prstGeom>
          <a:ln w="19050">
            <a:solidFill>
              <a:srgbClr val="9FE87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366760" y="4297680"/>
            <a:ext cx="2834640" cy="713232"/>
          </a:xfrm>
          <a:prstGeom prst="roundRect">
            <a:avLst/>
          </a:prstGeom>
          <a:solidFill>
            <a:srgbClr val="9FE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4407408"/>
            <a:ext cx="2468880" cy="219456"/>
          </a:xfrm>
          <a:prstGeom prst="rect">
            <a:avLst/>
          </a:prstGeom>
          <a:noFill/>
        </p:spPr>
        <p:txBody>
          <a:bodyPr wrap="square" lIns="0" rIns="0" tIns="0" bIns="0" anchor="t">
            <a:spAutoFit/>
          </a:bodyPr>
          <a:lstStyle/>
          <a:p>
            <a:pPr algn="ctr">
              <a:spcAft>
                <a:spcPts val="0"/>
              </a:spcAft>
            </a:pPr>
            <a:r>
              <a:rPr sz="1200" b="1" i="0">
                <a:solidFill>
                  <a:srgbClr val="163300"/>
                </a:solidFill>
                <a:latin typeface="Aptos"/>
              </a:rPr>
              <a:t>SETTLE</a:t>
            </a:r>
          </a:p>
        </p:txBody>
      </p:sp>
      <p:sp>
        <p:nvSpPr>
          <p:cNvPr id="23" name="TextBox 22"/>
          <p:cNvSpPr txBox="1"/>
          <p:nvPr/>
        </p:nvSpPr>
        <p:spPr>
          <a:xfrm>
            <a:off x="8549640" y="4681728"/>
            <a:ext cx="2468880" cy="182880"/>
          </a:xfrm>
          <a:prstGeom prst="rect">
            <a:avLst/>
          </a:prstGeom>
          <a:noFill/>
        </p:spPr>
        <p:txBody>
          <a:bodyPr wrap="square" lIns="0" rIns="0" tIns="0" bIns="0" anchor="t">
            <a:spAutoFit/>
          </a:bodyPr>
          <a:lstStyle/>
          <a:p>
            <a:pPr algn="ctr">
              <a:spcAft>
                <a:spcPts val="0"/>
              </a:spcAft>
            </a:pPr>
            <a:r>
              <a:rPr sz="900" b="0" i="0">
                <a:solidFill>
                  <a:srgbClr val="163300"/>
                </a:solidFill>
                <a:latin typeface="Aptos"/>
              </a:rPr>
              <a:t>Release / refund</a:t>
            </a:r>
          </a:p>
        </p:txBody>
      </p:sp>
      <p:sp>
        <p:nvSpPr>
          <p:cNvPr id="24" name="TextBox 23"/>
          <p:cNvSpPr txBox="1"/>
          <p:nvPr/>
        </p:nvSpPr>
        <p:spPr>
          <a:xfrm>
            <a:off x="640080" y="5669280"/>
            <a:ext cx="10789920" cy="475488"/>
          </a:xfrm>
          <a:prstGeom prst="rect">
            <a:avLst/>
          </a:prstGeom>
          <a:noFill/>
        </p:spPr>
        <p:txBody>
          <a:bodyPr wrap="square" lIns="0" rIns="0" tIns="0" bIns="0" anchor="t">
            <a:spAutoFit/>
          </a:bodyPr>
          <a:lstStyle/>
          <a:p>
            <a:pPr algn="l">
              <a:spcAft>
                <a:spcPts val="0"/>
              </a:spcAft>
            </a:pPr>
            <a:r>
              <a:rPr sz="1300" b="1" i="0">
                <a:solidFill>
                  <a:srgbClr val="FFFFFF"/>
                </a:solidFill>
                <a:latin typeface="Aptos"/>
              </a:rPr>
              <a:t>Protected payments beside instant MUSD transfers—funded by a person or capped agent, settled by the contract.</a:t>
            </a:r>
          </a:p>
        </p:txBody>
      </p:sp>
      <p:sp>
        <p:nvSpPr>
          <p:cNvPr id="25" name="TextBox 24"/>
          <p:cNvSpPr txBox="1"/>
          <p:nvPr/>
        </p:nvSpPr>
        <p:spPr>
          <a:xfrm>
            <a:off x="640080" y="6446520"/>
            <a:ext cx="10515600" cy="182880"/>
          </a:xfrm>
          <a:prstGeom prst="rect">
            <a:avLst/>
          </a:prstGeom>
          <a:noFill/>
        </p:spPr>
        <p:txBody>
          <a:bodyPr wrap="square" lIns="0" rIns="0" tIns="0" bIns="0" anchor="t">
            <a:spAutoFit/>
          </a:bodyPr>
          <a:lstStyle/>
          <a:p>
            <a:pPr algn="l">
              <a:spcAft>
                <a:spcPts val="0"/>
              </a:spcAft>
            </a:pPr>
            <a:r>
              <a:rPr sz="800" b="1" i="0">
                <a:solidFill>
                  <a:srgbClr val="9FE870"/>
                </a:solidFill>
                <a:latin typeface="Aptos"/>
              </a:rPr>
              <a:t>TESTNET ONLY  •  NOT INDEPENDENTLY AUDITED  •  NO PROTOCOL FEE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